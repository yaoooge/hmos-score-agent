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3333333" cy="7500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400" dirty="0" b="1">
                <a:solidFill>
                  <a:srgbClr val="0F172A"/>
                </a:solidFill>
                <a:latin typeface="Microsoft YaHei"/>
                <a:ea typeface="Microsoft YaHei"/>
              </a:rPr>
              <a:t>HarmonyOS 评分服务：分层架构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667512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</a:rPr>
              <a:t>从 API 接入、评分中心、规则/Agent 能力到产物和分析闭环</a:t>
            </a:r>
          </a:p>
        </p:txBody>
      </p:sp>
      <p:sp>
        <p:nvSpPr>
          <p:cNvPr id="10" name="应用领域层"/>
          <p:cNvSpPr/>
          <p:nvPr/>
        </p:nvSpPr>
        <p:spPr>
          <a:xfrm>
            <a:off x="411480" y="960120"/>
            <a:ext cx="1417320" cy="7498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rtlCol="0"/>
          <a:lstStyle/>
          <a:p>
            <a:pPr algn="l"/>
            <a:r>
              <a:rPr lang="zh-CN" sz="1300" dirty="0" b="1">
                <a:solidFill>
                  <a:srgbClr val="0284C7"/>
                </a:solidFill>
                <a:latin typeface="Microsoft YaHei"/>
                <a:ea typeface="Microsoft YaHei"/>
              </a:rPr>
              <a:t>应用领域层</a:t>
            </a:r>
          </a:p>
        </p:txBody>
      </p:sp>
      <p:sp>
        <p:nvSpPr>
          <p:cNvPr id="30" name="远端评分 API / 本地 CLI / Dashboard / 人工复核"/>
          <p:cNvSpPr/>
          <p:nvPr/>
        </p:nvSpPr>
        <p:spPr>
          <a:xfrm>
            <a:off x="1920240" y="960120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1000" dirty="0">
                <a:solidFill>
                  <a:srgbClr val="1F2937"/>
                </a:solidFill>
                <a:latin typeface="Microsoft YaHei"/>
                <a:ea typeface="Microsoft YaHei"/>
              </a:rPr>
              <a:t>远端评分 API / 本地 CLI / Dashboard / 人工复核</a:t>
            </a:r>
          </a:p>
        </p:txBody>
      </p:sp>
      <p:sp>
        <p:nvSpPr>
          <p:cNvPr id="11" name="业务中心层"/>
          <p:cNvSpPr/>
          <p:nvPr/>
        </p:nvSpPr>
        <p:spPr>
          <a:xfrm>
            <a:off x="411480" y="1828800"/>
            <a:ext cx="1417320" cy="7498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rtlCol="0"/>
          <a:lstStyle/>
          <a:p>
            <a:pPr algn="l"/>
            <a:r>
              <a:rPr lang="zh-CN" sz="1300" dirty="0" b="1">
                <a:solidFill>
                  <a:srgbClr val="16A34A"/>
                </a:solidFill>
                <a:latin typeface="Microsoft YaHei"/>
                <a:ea typeface="Microsoft YaHei"/>
              </a:rPr>
              <a:t>业务中心层</a:t>
            </a:r>
          </a:p>
        </p:txBody>
      </p:sp>
      <p:sp>
        <p:nvSpPr>
          <p:cNvPr id="31" name="评分中心 / 规则中心 / 人工中心 / 分析中心"/>
          <p:cNvSpPr/>
          <p:nvPr/>
        </p:nvSpPr>
        <p:spPr>
          <a:xfrm>
            <a:off x="1920240" y="1828800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1000" dirty="0">
                <a:solidFill>
                  <a:srgbClr val="1F2937"/>
                </a:solidFill>
                <a:latin typeface="Microsoft YaHei"/>
                <a:ea typeface="Microsoft YaHei"/>
              </a:rPr>
              <a:t>评分中心 / 规则中心 / 人工中心 / 分析中心</a:t>
            </a:r>
          </a:p>
        </p:txBody>
      </p:sp>
      <p:sp>
        <p:nvSpPr>
          <p:cNvPr id="12" name="能力平台层"/>
          <p:cNvSpPr/>
          <p:nvPr/>
        </p:nvSpPr>
        <p:spPr>
          <a:xfrm>
            <a:off x="411480" y="2697480"/>
            <a:ext cx="1417320" cy="7498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1300" dirty="0" b="1">
                <a:solidFill>
                  <a:srgbClr val="D97706"/>
                </a:solidFill>
                <a:latin typeface="Microsoft YaHei"/>
                <a:ea typeface="Microsoft YaHei"/>
              </a:rPr>
              <a:t>能力平台层</a:t>
            </a:r>
          </a:p>
        </p:txBody>
      </p:sp>
      <p:sp>
        <p:nvSpPr>
          <p:cNvPr id="32" name="opencode runtime / 任务队列 / registry / artifact store / callback"/>
          <p:cNvSpPr/>
          <p:nvPr/>
        </p:nvSpPr>
        <p:spPr>
          <a:xfrm>
            <a:off x="1920240" y="2697480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1000" dirty="0">
                <a:solidFill>
                  <a:srgbClr val="1F2937"/>
                </a:solidFill>
                <a:latin typeface="Microsoft YaHei"/>
                <a:ea typeface="Microsoft YaHei"/>
              </a:rPr>
              <a:t>opencode runtime / 任务队列 / registry / artifact store / callback</a:t>
            </a:r>
          </a:p>
        </p:txBody>
      </p:sp>
      <p:sp>
        <p:nvSpPr>
          <p:cNvPr id="13" name="技术底座层"/>
          <p:cNvSpPr/>
          <p:nvPr/>
        </p:nvSpPr>
        <p:spPr>
          <a:xfrm>
            <a:off x="411480" y="3566160"/>
            <a:ext cx="141732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txBody>
          <a:bodyPr wrap="square" rtlCol="0"/>
          <a:lstStyle/>
          <a:p>
            <a:pPr algn="l"/>
            <a:r>
              <a:rPr lang="zh-CN" sz="1300" dirty="0" b="1">
                <a:solidFill>
                  <a:srgbClr val="475569"/>
                </a:solidFill>
                <a:latin typeface="Microsoft YaHei"/>
                <a:ea typeface="Microsoft YaHei"/>
              </a:rPr>
              <a:t>技术底座层</a:t>
            </a:r>
          </a:p>
        </p:txBody>
      </p:sp>
      <p:sp>
        <p:nvSpPr>
          <p:cNvPr id="33" name="Node.js / TypeScript / Express / LangGraph / AJV / Vue / hvigor"/>
          <p:cNvSpPr/>
          <p:nvPr/>
        </p:nvSpPr>
        <p:spPr>
          <a:xfrm>
            <a:off x="1920240" y="3566160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1000" dirty="0">
                <a:solidFill>
                  <a:srgbClr val="1F2937"/>
                </a:solidFill>
                <a:latin typeface="Microsoft YaHei"/>
                <a:ea typeface="Microsoft YaHei"/>
              </a:rPr>
              <a:t>Node.js / TypeScript / Express / LangGraph / AJV / Vue / hvigor</a:t>
            </a:r>
          </a:p>
        </p:txBody>
      </p:sp>
      <p:sp>
        <p:nvSpPr>
          <p:cNvPr id="70" name="Agents"/>
          <p:cNvSpPr/>
          <p:nvPr/>
        </p:nvSpPr>
        <p:spPr>
          <a:xfrm>
            <a:off x="502920" y="4617720"/>
            <a:ext cx="539496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312E81"/>
                </a:solidFill>
                <a:latin typeface="Microsoft YaHei"/>
                <a:ea typeface="Microsoft YaHei"/>
              </a:rPr>
              <a:t>4 个 opencode agent / skill</a:t>
            </a:r>
          </a:p>
          <a:p>
            <a:pPr algn="l"/>
            <a:r>
              <a:rPr lang="zh-CN" sz="800" dirty="0">
                <a:solidFill>
                  <a:srgbClr val="312E81"/>
                </a:solidFill>
                <a:latin typeface="Microsoft YaHei"/>
                <a:ea typeface="Microsoft YaHei"/>
              </a:rPr>
              <a:t>hmos-understanding：提取约束和分类 hints</a:t>
            </a:r>
          </a:p>
          <a:p>
            <a:pPr algn="l"/>
            <a:r>
              <a:rPr lang="zh-CN" sz="800" dirty="0">
                <a:solidFill>
                  <a:srgbClr val="312E81"/>
                </a:solidFill>
                <a:latin typeface="Microsoft YaHei"/>
                <a:ea typeface="Microsoft YaHei"/>
              </a:rPr>
              <a:t>hmos-rubric-scoring：逐 item 离散档位评分</a:t>
            </a:r>
          </a:p>
          <a:p>
            <a:pPr algn="l"/>
            <a:r>
              <a:rPr lang="zh-CN" sz="800" dirty="0">
                <a:solidFill>
                  <a:srgbClr val="312E81"/>
                </a:solidFill>
                <a:latin typeface="Microsoft YaHei"/>
                <a:ea typeface="Microsoft YaHei"/>
              </a:rPr>
              <a:t>hmos-rule-assessment：候选规则最终判定</a:t>
            </a:r>
          </a:p>
          <a:p>
            <a:pPr algn="l"/>
            <a:r>
              <a:rPr lang="zh-CN" sz="800" dirty="0">
                <a:solidFill>
                  <a:srgbClr val="312E81"/>
                </a:solidFill>
                <a:latin typeface="Microsoft YaHei"/>
                <a:ea typeface="Microsoft YaHei"/>
              </a:rPr>
              <a:t>hmos-human-rating-gap-analysis：人工评级差异归因</a:t>
            </a:r>
          </a:p>
        </p:txBody>
      </p:sp>
      <p:sp>
        <p:nvSpPr>
          <p:cNvPr id="71" name="Artifacts"/>
          <p:cNvSpPr/>
          <p:nvPr/>
        </p:nvSpPr>
        <p:spPr>
          <a:xfrm>
            <a:off x="6172200" y="4617720"/>
            <a:ext cx="5166360" cy="1005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6B6D4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核心产物</a:t>
            </a:r>
          </a:p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result.json：basic_info、overall_conclusion、dimension_results、rule_violations、risks、human_review_items</a:t>
            </a:r>
          </a:p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report.html：可视化报告；run.log：执行日志；datasets/*.jsonl：人工样本</a:t>
            </a:r>
          </a:p>
        </p:txBody>
      </p:sp>
      <p:sp>
        <p:nvSpPr>
          <p:cNvPr id="999" name="Footer"/>
          <p:cNvSpPr txBox="1"/>
          <p:nvPr/>
        </p:nvSpPr>
        <p:spPr>
          <a:xfrm>
            <a:off x="10698480" y="64190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00" dirty="0">
                <a:solidFill>
                  <a:srgbClr val="94A3B8"/>
                </a:solidFill>
                <a:latin typeface="Microsoft YaHei"/>
                <a:ea typeface="Microsoft YaHe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400" dirty="0" b="1">
                <a:solidFill>
                  <a:srgbClr val="0F172A"/>
                </a:solidFill>
                <a:latin typeface="Microsoft YaHei"/>
                <a:ea typeface="Microsoft YaHei"/>
              </a:rPr>
              <a:t>从输入到输出：主执行链路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667512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</a:rPr>
              <a:t>每一步都落盘或生成可回放证据</a:t>
            </a:r>
          </a:p>
        </p:txBody>
      </p:sp>
      <p:sp>
        <p:nvSpPr>
          <p:cNvPr id="10" name="1 输入"/>
          <p:cNvSpPr/>
          <p:nvPr/>
        </p:nvSpPr>
        <p:spPr>
          <a:xfrm>
            <a:off x="320040" y="1051560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1 输入</a:t>
            </a:r>
          </a:p>
        </p:txBody>
      </p:sp>
      <p:sp>
        <p:nvSpPr>
          <p:cNvPr id="40" name="remote task / local case"/>
          <p:cNvSpPr/>
          <p:nvPr/>
        </p:nvSpPr>
        <p:spPr>
          <a:xfrm>
            <a:off x="320040" y="1399032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remote task / local case</a:t>
            </a:r>
          </a:p>
        </p:txBody>
      </p:sp>
      <p:sp>
        <p:nvSpPr>
          <p:cNvPr id="11" name="2 下载"/>
          <p:cNvSpPr/>
          <p:nvPr/>
        </p:nvSpPr>
        <p:spPr>
          <a:xfrm>
            <a:off x="2148840" y="1051560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2 下载</a:t>
            </a:r>
          </a:p>
        </p:txBody>
      </p:sp>
      <p:sp>
        <p:nvSpPr>
          <p:cNvPr id="41" name="写 inputs/remote-task.json 下载 original/workspace/diff"/>
          <p:cNvSpPr/>
          <p:nvPr/>
        </p:nvSpPr>
        <p:spPr>
          <a:xfrm>
            <a:off x="2148840" y="1399032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写 inputs/remote-task.json</a:t>
            </a:r>
          </a:p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下载 original/workspace/diff</a:t>
            </a:r>
          </a:p>
        </p:txBody>
      </p:sp>
      <p:sp>
        <p:nvSpPr>
          <p:cNvPr id="12" name="3 物化"/>
          <p:cNvSpPr/>
          <p:nvPr/>
        </p:nvSpPr>
        <p:spPr>
          <a:xfrm>
            <a:off x="3977640" y="1051560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3 物化</a:t>
            </a:r>
          </a:p>
        </p:txBody>
      </p:sp>
      <p:sp>
        <p:nvSpPr>
          <p:cNvPr id="42" name="生成 case 目录 统计文件数和 patch"/>
          <p:cNvSpPr/>
          <p:nvPr/>
        </p:nvSpPr>
        <p:spPr>
          <a:xfrm>
            <a:off x="3977640" y="1399032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生成 case 目录</a:t>
            </a:r>
          </a:p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统计文件数和 patch</a:t>
            </a:r>
          </a:p>
        </p:txBody>
      </p:sp>
      <p:sp>
        <p:nvSpPr>
          <p:cNvPr id="13" name="4 任务理解"/>
          <p:cNvSpPr/>
          <p:nvPr/>
        </p:nvSpPr>
        <p:spPr>
          <a:xfrm>
            <a:off x="5806440" y="1051560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4 任务理解</a:t>
            </a:r>
          </a:p>
        </p:txBody>
      </p:sp>
      <p:sp>
        <p:nvSpPr>
          <p:cNvPr id="43" name="hmos-understanding 约束摘要和 cross-device 判定"/>
          <p:cNvSpPr/>
          <p:nvPr/>
        </p:nvSpPr>
        <p:spPr>
          <a:xfrm>
            <a:off x="5806440" y="1399032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hmos-understanding</a:t>
            </a:r>
          </a:p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约束摘要和 cross-device 判定</a:t>
            </a:r>
          </a:p>
        </p:txBody>
      </p:sp>
      <p:sp>
        <p:nvSpPr>
          <p:cNvPr id="14" name="5 分类"/>
          <p:cNvSpPr/>
          <p:nvPr/>
        </p:nvSpPr>
        <p:spPr>
          <a:xfrm>
            <a:off x="7635240" y="1051560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5 分类</a:t>
            </a:r>
          </a:p>
        </p:txBody>
      </p:sp>
      <p:sp>
        <p:nvSpPr>
          <p:cNvPr id="44" name="full_generation / continuation / bug_fix"/>
          <p:cNvSpPr/>
          <p:nvPr/>
        </p:nvSpPr>
        <p:spPr>
          <a:xfrm>
            <a:off x="7635240" y="1399032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full_generation / continuation / bug_fix</a:t>
            </a:r>
          </a:p>
        </p:txBody>
      </p:sp>
      <p:sp>
        <p:nvSpPr>
          <p:cNvPr id="15" name="6 审计"/>
          <p:cNvSpPr/>
          <p:nvPr/>
        </p:nvSpPr>
        <p:spPr>
          <a:xfrm>
            <a:off x="9464040" y="1051560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6 审计</a:t>
            </a:r>
          </a:p>
        </p:txBody>
      </p:sp>
      <p:sp>
        <p:nvSpPr>
          <p:cNvPr id="45" name="静态规则引擎 确定性规则 + 候选规则"/>
          <p:cNvSpPr/>
          <p:nvPr/>
        </p:nvSpPr>
        <p:spPr>
          <a:xfrm>
            <a:off x="9464040" y="1399032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静态规则引擎</a:t>
            </a:r>
          </a:p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确定性规则 + 候选规则</a:t>
            </a:r>
          </a:p>
        </p:txBody>
      </p:sp>
      <p:sp>
        <p:nvSpPr>
          <p:cNvPr id="16" name="7 并行工具"/>
          <p:cNvSpPr/>
          <p:nvPr/>
        </p:nvSpPr>
        <p:spPr>
          <a:xfrm>
            <a:off x="9464040" y="2907792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7 并行工具</a:t>
            </a:r>
          </a:p>
        </p:txBody>
      </p:sp>
      <p:sp>
        <p:nvSpPr>
          <p:cNvPr id="46" name="官方 Code Linter hvigor 构建检查"/>
          <p:cNvSpPr/>
          <p:nvPr/>
        </p:nvSpPr>
        <p:spPr>
          <a:xfrm>
            <a:off x="9464040" y="3255264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官方 Code Linter</a:t>
            </a:r>
          </a:p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hvigor 构建检查</a:t>
            </a:r>
          </a:p>
        </p:txBody>
      </p:sp>
      <p:sp>
        <p:nvSpPr>
          <p:cNvPr id="17" name="8 Rubric"/>
          <p:cNvSpPr/>
          <p:nvPr/>
        </p:nvSpPr>
        <p:spPr>
          <a:xfrm>
            <a:off x="7635240" y="2907792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8 Rubric</a:t>
            </a:r>
          </a:p>
        </p:txBody>
      </p:sp>
      <p:sp>
        <p:nvSpPr>
          <p:cNvPr id="47" name="加载 rubric 和风险 taxonomy"/>
          <p:cNvSpPr/>
          <p:nvPr/>
        </p:nvSpPr>
        <p:spPr>
          <a:xfrm>
            <a:off x="7635240" y="3255264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加载 rubric 和风险 taxonomy</a:t>
            </a:r>
          </a:p>
        </p:txBody>
      </p:sp>
      <p:sp>
        <p:nvSpPr>
          <p:cNvPr id="18" name="9 Agents"/>
          <p:cNvSpPr/>
          <p:nvPr/>
        </p:nvSpPr>
        <p:spPr>
          <a:xfrm>
            <a:off x="5806440" y="2907792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9 Agents</a:t>
            </a:r>
          </a:p>
        </p:txBody>
      </p:sp>
      <p:sp>
        <p:nvSpPr>
          <p:cNvPr id="48" name="rubric scoring / rule assessment"/>
          <p:cNvSpPr/>
          <p:nvPr/>
        </p:nvSpPr>
        <p:spPr>
          <a:xfrm>
            <a:off x="5806440" y="3255264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rubric scoring / rule assessment</a:t>
            </a:r>
          </a:p>
        </p:txBody>
      </p:sp>
      <p:sp>
        <p:nvSpPr>
          <p:cNvPr id="19" name="10 融合"/>
          <p:cNvSpPr/>
          <p:nvPr/>
        </p:nvSpPr>
        <p:spPr>
          <a:xfrm>
            <a:off x="3977640" y="2907792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10 融合</a:t>
            </a:r>
          </a:p>
        </p:txBody>
      </p:sp>
      <p:sp>
        <p:nvSpPr>
          <p:cNvPr id="49" name="规则扣分 + 档位收敛 + hard gate"/>
          <p:cNvSpPr/>
          <p:nvPr/>
        </p:nvSpPr>
        <p:spPr>
          <a:xfrm>
            <a:off x="3977640" y="3255264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规则扣分 + 档位收敛 + hard gate</a:t>
            </a:r>
          </a:p>
        </p:txBody>
      </p:sp>
      <p:sp>
        <p:nvSpPr>
          <p:cNvPr id="20" name="11 报告"/>
          <p:cNvSpPr/>
          <p:nvPr/>
        </p:nvSpPr>
        <p:spPr>
          <a:xfrm>
            <a:off x="2148840" y="2907792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11 报告</a:t>
            </a:r>
          </a:p>
        </p:txBody>
      </p:sp>
      <p:sp>
        <p:nvSpPr>
          <p:cNvPr id="50" name="schema 校验 result.json 渲染 report.html"/>
          <p:cNvSpPr/>
          <p:nvPr/>
        </p:nvSpPr>
        <p:spPr>
          <a:xfrm>
            <a:off x="2148840" y="3255264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schema 校验 result.json</a:t>
            </a:r>
          </a:p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渲染 report.html</a:t>
            </a:r>
          </a:p>
        </p:txBody>
      </p:sp>
      <p:sp>
        <p:nvSpPr>
          <p:cNvPr id="21" name="12 输出"/>
          <p:cNvSpPr/>
          <p:nvPr/>
        </p:nvSpPr>
        <p:spPr>
          <a:xfrm>
            <a:off x="320040" y="2907792"/>
            <a:ext cx="137160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E3A8A"/>
                </a:solidFill>
                <a:latin typeface="Microsoft YaHei"/>
                <a:ea typeface="Microsoft YaHei"/>
              </a:rPr>
              <a:t>12 输出</a:t>
            </a:r>
          </a:p>
        </p:txBody>
      </p:sp>
      <p:sp>
        <p:nvSpPr>
          <p:cNvPr id="51" name="persist / callback / rule stats"/>
          <p:cNvSpPr/>
          <p:nvPr/>
        </p:nvSpPr>
        <p:spPr>
          <a:xfrm>
            <a:off x="320040" y="3255264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rtlCol="0"/>
          <a:lstStyle/>
          <a:p>
            <a:pPr algn="l"/>
            <a:r>
              <a:rPr lang="zh-CN" sz="600" dirty="0">
                <a:solidFill>
                  <a:srgbClr val="1F2937"/>
                </a:solidFill>
                <a:latin typeface="Microsoft YaHei"/>
                <a:ea typeface="Microsoft YaHei"/>
              </a:rPr>
              <a:t>persist / callback / rule stats</a:t>
            </a:r>
          </a:p>
        </p:txBody>
      </p:sp>
      <p:cxnSp>
        <p:nvCxnSpPr>
          <p:cNvPr id="100" name="a"/>
          <p:cNvCxnSpPr/>
          <p:nvPr/>
        </p:nvCxnSpPr>
        <p:spPr>
          <a:xfrm>
            <a:off x="1691640" y="1837944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01" name="a"/>
          <p:cNvCxnSpPr/>
          <p:nvPr/>
        </p:nvCxnSpPr>
        <p:spPr>
          <a:xfrm>
            <a:off x="3520440" y="1837944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02" name="a"/>
          <p:cNvCxnSpPr/>
          <p:nvPr/>
        </p:nvCxnSpPr>
        <p:spPr>
          <a:xfrm>
            <a:off x="5349240" y="1837944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03" name="a"/>
          <p:cNvCxnSpPr/>
          <p:nvPr/>
        </p:nvCxnSpPr>
        <p:spPr>
          <a:xfrm>
            <a:off x="7178040" y="1837944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04" name="a"/>
          <p:cNvCxnSpPr/>
          <p:nvPr/>
        </p:nvCxnSpPr>
        <p:spPr>
          <a:xfrm>
            <a:off x="9006840" y="1837944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06" name="b"/>
          <p:cNvCxnSpPr/>
          <p:nvPr/>
        </p:nvCxnSpPr>
        <p:spPr>
          <a:xfrm>
            <a:off x="10149840" y="2313432"/>
            <a:ext cx="0" cy="59436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16" name="c"/>
          <p:cNvCxnSpPr/>
          <p:nvPr/>
        </p:nvCxnSpPr>
        <p:spPr>
          <a:xfrm flipH="1">
            <a:off x="9006840" y="3694176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17" name="c"/>
          <p:cNvCxnSpPr/>
          <p:nvPr/>
        </p:nvCxnSpPr>
        <p:spPr>
          <a:xfrm flipH="1">
            <a:off x="7178040" y="3694176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18" name="c"/>
          <p:cNvCxnSpPr/>
          <p:nvPr/>
        </p:nvCxnSpPr>
        <p:spPr>
          <a:xfrm flipH="1">
            <a:off x="5349240" y="3694176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19" name="c"/>
          <p:cNvCxnSpPr/>
          <p:nvPr/>
        </p:nvCxnSpPr>
        <p:spPr>
          <a:xfrm flipH="1">
            <a:off x="3520440" y="3694176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cxnSp>
        <p:nvCxnSpPr>
          <p:cNvPr id="120" name="c"/>
          <p:cNvCxnSpPr/>
          <p:nvPr/>
        </p:nvCxnSpPr>
        <p:spPr>
          <a:xfrm flipH="1">
            <a:off x="1691640" y="3694176"/>
            <a:ext cx="457200" cy="0"/>
          </a:xfrm>
          <a:prstGeom prst="line">
            <a:avLst/>
          </a:prstGeom>
          <a:ln w="14000">
            <a:solidFill>
              <a:srgbClr val="2563EB"/>
            </a:solidFill>
            <a:tailEnd type="triangle"/>
          </a:ln>
        </p:spPr>
      </p:cxnSp>
      <p:sp>
        <p:nvSpPr>
          <p:cNvPr id="150" name="Parallel"/>
          <p:cNvSpPr/>
          <p:nvPr/>
        </p:nvSpPr>
        <p:spPr>
          <a:xfrm>
            <a:off x="685800" y="4983480"/>
            <a:ext cx="489204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334155"/>
                </a:solidFill>
                <a:latin typeface="Microsoft YaHei"/>
                <a:ea typeface="Microsoft YaHei"/>
              </a:rPr>
              <a:t>关键并行：ruleAudit 后，officialCodeLinterNode 和 rubricPreparationNode 并行；ruleMerge 等待官方工具 + rule agent；scoreFusion 等待 rubric agent + ruleMerge。</a:t>
            </a:r>
          </a:p>
        </p:txBody>
      </p:sp>
      <p:sp>
        <p:nvSpPr>
          <p:cNvPr id="151" name="Remote"/>
          <p:cNvSpPr/>
          <p:nvPr/>
        </p:nvSpPr>
        <p:spPr>
          <a:xfrm>
            <a:off x="5897880" y="4983480"/>
            <a:ext cx="4892040" cy="6400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6B6D4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远端任务先 pending，再 running；完成回调只带 basic_info 和 overall_conclusion，完整 result.json 由接口单独查询。</a:t>
            </a:r>
          </a:p>
        </p:txBody>
      </p:sp>
      <p:sp>
        <p:nvSpPr>
          <p:cNvPr id="999" name="Footer"/>
          <p:cNvSpPr txBox="1"/>
          <p:nvPr/>
        </p:nvSpPr>
        <p:spPr>
          <a:xfrm>
            <a:off x="10698480" y="64190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00" dirty="0">
                <a:solidFill>
                  <a:srgbClr val="94A3B8"/>
                </a:solidFill>
                <a:latin typeface="Microsoft YaHei"/>
                <a:ea typeface="Microsoft YaHe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400" dirty="0" b="1">
                <a:solidFill>
                  <a:srgbClr val="0F172A"/>
                </a:solidFill>
                <a:latin typeface="Microsoft YaHei"/>
                <a:ea typeface="Microsoft YaHei"/>
              </a:rPr>
              <a:t>节点级职责和 agent 边界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667512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</a:rPr>
              <a:t>每个节点只做一小段工作，每个 agent 只处理它被授权的评测面</a:t>
            </a:r>
          </a:p>
        </p:txBody>
      </p:sp>
      <p:sp>
        <p:nvSpPr>
          <p:cNvPr id="10" name="Prelude"/>
          <p:cNvSpPr/>
          <p:nvPr/>
        </p:nvSpPr>
        <p:spPr>
          <a:xfrm>
            <a:off x="365760" y="987552"/>
            <a:ext cx="3337560" cy="13258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预处理 / 任务理解 / 分类</a:t>
            </a:r>
          </a:p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download / materialize / write inputs</a:t>
            </a:r>
          </a:p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build sandbox / write constraint summary</a:t>
            </a:r>
          </a:p>
          <a:p>
            <a:pPr algn="l"/>
            <a:r>
              <a:rPr lang="zh-CN" sz="800" dirty="0">
                <a:solidFill>
                  <a:srgbClr val="155E75"/>
                </a:solidFill>
                <a:latin typeface="Microsoft YaHei"/>
                <a:ea typeface="Microsoft YaHei"/>
              </a:rPr>
              <a:t>infer task type</a:t>
            </a:r>
          </a:p>
        </p:txBody>
      </p:sp>
      <p:sp>
        <p:nvSpPr>
          <p:cNvPr id="11" name="Rules"/>
          <p:cNvSpPr/>
          <p:nvPr/>
        </p:nvSpPr>
        <p:spPr>
          <a:xfrm>
            <a:off x="3840480" y="987552"/>
            <a:ext cx="3886200" cy="13258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规则审计 / 官方工具 / rubric</a:t>
            </a:r>
          </a:p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静态规则引擎、Code Linter、hvigor</a:t>
            </a:r>
          </a:p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load rubric / risk taxonomy</a:t>
            </a:r>
          </a:p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prepare rubric 和 rule prompt</a:t>
            </a:r>
          </a:p>
        </p:txBody>
      </p:sp>
      <p:sp>
        <p:nvSpPr>
          <p:cNvPr id="12" name="Agents"/>
          <p:cNvSpPr/>
          <p:nvPr/>
        </p:nvSpPr>
        <p:spPr>
          <a:xfrm>
            <a:off x="7909560" y="987552"/>
            <a:ext cx="3840480" cy="132588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831843"/>
                </a:solidFill>
                <a:latin typeface="Microsoft YaHei"/>
                <a:ea typeface="Microsoft YaHei"/>
              </a:rPr>
              <a:t>rubric scoring / rule assessment / gap analysis</a:t>
            </a:r>
          </a:p>
          <a:p>
            <a:pPr algn="l"/>
            <a:r>
              <a:rPr lang="zh-CN" sz="800" dirty="0">
                <a:solidFill>
                  <a:srgbClr val="831843"/>
                </a:solidFill>
                <a:latin typeface="Microsoft YaHei"/>
                <a:ea typeface="Microsoft YaHei"/>
              </a:rPr>
              <a:t>逐项评分、候选规则判定、人工差异归因</a:t>
            </a:r>
          </a:p>
        </p:txBody>
      </p:sp>
      <p:sp>
        <p:nvSpPr>
          <p:cNvPr id="30" name="remoteTaskPreparationNode"/>
          <p:cNvSpPr/>
          <p:nvPr/>
        </p:nvSpPr>
        <p:spPr>
          <a:xfrm>
            <a:off x="502920" y="2542032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remoteTaskPreparationNode</a:t>
            </a:r>
          </a:p>
        </p:txBody>
      </p:sp>
      <p:sp>
        <p:nvSpPr>
          <p:cNvPr id="80" name="下载 original/workspace/diff，写 inputs/remote-task.json，写 case-info.json，统计文件数"/>
          <p:cNvSpPr/>
          <p:nvPr/>
        </p:nvSpPr>
        <p:spPr>
          <a:xfrm>
            <a:off x="4343400" y="2542032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下载 original/workspace/diff，写 inputs/remote-task.json，写 case-info.json，统计文件数</a:t>
            </a:r>
          </a:p>
        </p:txBody>
      </p:sp>
      <p:sp>
        <p:nvSpPr>
          <p:cNvPr id="31" name="taskUnderstandingNode"/>
          <p:cNvSpPr/>
          <p:nvPr/>
        </p:nvSpPr>
        <p:spPr>
          <a:xfrm>
            <a:off x="502920" y="2926080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taskUnderstandingNode</a:t>
            </a:r>
          </a:p>
        </p:txBody>
      </p:sp>
      <p:sp>
        <p:nvSpPr>
          <p:cNvPr id="81" name="构建 opencode sandbox，抽取 constraint-summary.json，写 case-rule-definitions.json，生成 effective.patch"/>
          <p:cNvSpPr/>
          <p:nvPr/>
        </p:nvSpPr>
        <p:spPr>
          <a:xfrm>
            <a:off x="4343400" y="2926080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构建 opencode sandbox，抽取 constraint-summary.json，写 case-rule-definitions.json，生成 effective.patch</a:t>
            </a:r>
          </a:p>
        </p:txBody>
      </p:sp>
      <p:sp>
        <p:nvSpPr>
          <p:cNvPr id="32" name="inputClassificationNode"/>
          <p:cNvSpPr/>
          <p:nvPr/>
        </p:nvSpPr>
        <p:spPr>
          <a:xfrm>
            <a:off x="502920" y="3310128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inputClassificationNode</a:t>
            </a:r>
          </a:p>
        </p:txBody>
      </p:sp>
      <p:sp>
        <p:nvSpPr>
          <p:cNvPr id="82" name="根据 case input 和理解结果判定任务类型"/>
          <p:cNvSpPr/>
          <p:nvPr/>
        </p:nvSpPr>
        <p:spPr>
          <a:xfrm>
            <a:off x="4343400" y="3310128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根据 case input 和理解结果判定任务类型</a:t>
            </a:r>
          </a:p>
        </p:txBody>
      </p:sp>
      <p:sp>
        <p:nvSpPr>
          <p:cNvPr id="33" name="ruleAuditNode"/>
          <p:cNvSpPr/>
          <p:nvPr/>
        </p:nvSpPr>
        <p:spPr>
          <a:xfrm>
            <a:off x="502920" y="3694176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ruleAuditNode</a:t>
            </a:r>
          </a:p>
        </p:txBody>
      </p:sp>
      <p:sp>
        <p:nvSpPr>
          <p:cNvPr id="83" name="运行静态规则引擎，拿到 deterministic rule results / assisted rule candidates / rule evidence"/>
          <p:cNvSpPr/>
          <p:nvPr/>
        </p:nvSpPr>
        <p:spPr>
          <a:xfrm>
            <a:off x="4343400" y="3694176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运行静态规则引擎，拿到 deterministic rule results / assisted rule candidates / rule evidence</a:t>
            </a:r>
          </a:p>
        </p:txBody>
      </p:sp>
      <p:sp>
        <p:nvSpPr>
          <p:cNvPr id="34" name="officialCodeLinterNode"/>
          <p:cNvSpPr/>
          <p:nvPr/>
        </p:nvSpPr>
        <p:spPr>
          <a:xfrm>
            <a:off x="502920" y="4078224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officialCodeLinterNode</a:t>
            </a:r>
          </a:p>
        </p:txBody>
      </p:sp>
      <p:sp>
        <p:nvSpPr>
          <p:cNvPr id="84" name="准备 linter workspace，跑官方 Code Linter，必要时跑 hvigor 构建检查，写 code-linter 结果"/>
          <p:cNvSpPr/>
          <p:nvPr/>
        </p:nvSpPr>
        <p:spPr>
          <a:xfrm>
            <a:off x="4343400" y="4078224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准备 linter workspace，跑官方 Code Linter，必要时跑 hvigor 构建检查，写 code-linter 结果</a:t>
            </a:r>
          </a:p>
        </p:txBody>
      </p:sp>
      <p:sp>
        <p:nvSpPr>
          <p:cNvPr id="35" name="rubricPreparationNode"/>
          <p:cNvSpPr/>
          <p:nvPr/>
        </p:nvSpPr>
        <p:spPr>
          <a:xfrm>
            <a:off x="502920" y="4462272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rubricPreparationNode</a:t>
            </a:r>
          </a:p>
        </p:txBody>
      </p:sp>
      <p:sp>
        <p:nvSpPr>
          <p:cNvPr id="85" name="加载 rubric.yaml 和 risk-taxonomy.yaml，生成 rubric snapshot"/>
          <p:cNvSpPr/>
          <p:nvPr/>
        </p:nvSpPr>
        <p:spPr>
          <a:xfrm>
            <a:off x="4343400" y="4462272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加载 rubric.yaml 和 risk-taxonomy.yaml，生成 rubric snapshot</a:t>
            </a:r>
          </a:p>
        </p:txBody>
      </p:sp>
      <p:sp>
        <p:nvSpPr>
          <p:cNvPr id="36" name="rubricScoringPromptBuilderNode"/>
          <p:cNvSpPr/>
          <p:nvPr/>
        </p:nvSpPr>
        <p:spPr>
          <a:xfrm>
            <a:off x="502920" y="4846320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rubricScoringPromptBuilderNode</a:t>
            </a:r>
          </a:p>
        </p:txBody>
      </p:sp>
      <p:sp>
        <p:nvSpPr>
          <p:cNvPr id="86" name="组装 rubricScoringPayload 和 workspace 提示"/>
          <p:cNvSpPr/>
          <p:nvPr/>
        </p:nvSpPr>
        <p:spPr>
          <a:xfrm>
            <a:off x="4343400" y="4846320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组装 rubricScoringPayload 和 workspace 提示</a:t>
            </a:r>
          </a:p>
        </p:txBody>
      </p:sp>
      <p:sp>
        <p:nvSpPr>
          <p:cNvPr id="37" name="ruleAgentPromptBuilderNode"/>
          <p:cNvSpPr/>
          <p:nvPr/>
        </p:nvSpPr>
        <p:spPr>
          <a:xfrm>
            <a:off x="502920" y="5230368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ruleAgentPromptBuilderNode</a:t>
            </a:r>
          </a:p>
        </p:txBody>
      </p:sp>
      <p:sp>
        <p:nvSpPr>
          <p:cNvPr id="87" name="组装 ruleAgentBootstrapPayload 和候选规则上下文"/>
          <p:cNvSpPr/>
          <p:nvPr/>
        </p:nvSpPr>
        <p:spPr>
          <a:xfrm>
            <a:off x="4343400" y="5230368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组装 ruleAgentBootstrapPayload 和候选规则上下文</a:t>
            </a:r>
          </a:p>
        </p:txBody>
      </p:sp>
      <p:sp>
        <p:nvSpPr>
          <p:cNvPr id="38" name="rubricScoringAgentNode"/>
          <p:cNvSpPr/>
          <p:nvPr/>
        </p:nvSpPr>
        <p:spPr>
          <a:xfrm>
            <a:off x="502920" y="5614416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rubricScoringAgentNode</a:t>
            </a:r>
          </a:p>
        </p:txBody>
      </p:sp>
      <p:sp>
        <p:nvSpPr>
          <p:cNvPr id="88" name="只做 rubric item 逐项离散档位评分"/>
          <p:cNvSpPr/>
          <p:nvPr/>
        </p:nvSpPr>
        <p:spPr>
          <a:xfrm>
            <a:off x="4343400" y="5614416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只做 rubric item 逐项离散档位评分</a:t>
            </a:r>
          </a:p>
        </p:txBody>
      </p:sp>
      <p:sp>
        <p:nvSpPr>
          <p:cNvPr id="39" name="ruleAssessmentAgentNode"/>
          <p:cNvSpPr/>
          <p:nvPr/>
        </p:nvSpPr>
        <p:spPr>
          <a:xfrm>
            <a:off x="502920" y="5998464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ruleAssessmentAgentNode</a:t>
            </a:r>
          </a:p>
        </p:txBody>
      </p:sp>
      <p:sp>
        <p:nvSpPr>
          <p:cNvPr id="89" name="只做候选规则最终判定"/>
          <p:cNvSpPr/>
          <p:nvPr/>
        </p:nvSpPr>
        <p:spPr>
          <a:xfrm>
            <a:off x="4343400" y="5998464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只做候选规则最终判定</a:t>
            </a:r>
          </a:p>
        </p:txBody>
      </p:sp>
      <p:sp>
        <p:nvSpPr>
          <p:cNvPr id="40" name="ruleMergeNode"/>
          <p:cNvSpPr/>
          <p:nvPr/>
        </p:nvSpPr>
        <p:spPr>
          <a:xfrm>
            <a:off x="502920" y="6382512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ruleMergeNode</a:t>
            </a:r>
          </a:p>
        </p:txBody>
      </p:sp>
      <p:sp>
        <p:nvSpPr>
          <p:cNvPr id="90" name="合并静态规则、官方工具和 agent 判定"/>
          <p:cNvSpPr/>
          <p:nvPr/>
        </p:nvSpPr>
        <p:spPr>
          <a:xfrm>
            <a:off x="4343400" y="6382512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合并静态规则、官方工具和 agent 判定</a:t>
            </a:r>
          </a:p>
        </p:txBody>
      </p:sp>
      <p:sp>
        <p:nvSpPr>
          <p:cNvPr id="41" name="scoreFusionOrchestrationNode"/>
          <p:cNvSpPr/>
          <p:nvPr/>
        </p:nvSpPr>
        <p:spPr>
          <a:xfrm>
            <a:off x="502920" y="6766560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scoreFusionOrchestrationNode</a:t>
            </a:r>
          </a:p>
        </p:txBody>
      </p:sp>
      <p:sp>
        <p:nvSpPr>
          <p:cNvPr id="91" name="计算 item / dimension / total score 和 hard gate"/>
          <p:cNvSpPr/>
          <p:nvPr/>
        </p:nvSpPr>
        <p:spPr>
          <a:xfrm>
            <a:off x="4343400" y="6766560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计算 item / dimension / total score 和 hard gate</a:t>
            </a:r>
          </a:p>
        </p:txBody>
      </p:sp>
      <p:sp>
        <p:nvSpPr>
          <p:cNvPr id="42" name="reportGenerationNode"/>
          <p:cNvSpPr/>
          <p:nvPr/>
        </p:nvSpPr>
        <p:spPr>
          <a:xfrm>
            <a:off x="502920" y="7150608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reportGenerationNode</a:t>
            </a:r>
          </a:p>
        </p:txBody>
      </p:sp>
      <p:sp>
        <p:nvSpPr>
          <p:cNvPr id="92" name="生成并校验 result.json"/>
          <p:cNvSpPr/>
          <p:nvPr/>
        </p:nvSpPr>
        <p:spPr>
          <a:xfrm>
            <a:off x="4343400" y="7150608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生成并校验 result.json</a:t>
            </a:r>
          </a:p>
        </p:txBody>
      </p:sp>
      <p:sp>
        <p:nvSpPr>
          <p:cNvPr id="43" name="artifactPostProcessNode"/>
          <p:cNvSpPr/>
          <p:nvPr/>
        </p:nvSpPr>
        <p:spPr>
          <a:xfrm>
            <a:off x="502920" y="7534656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artifactPostProcessNode</a:t>
            </a:r>
          </a:p>
        </p:txBody>
      </p:sp>
      <p:sp>
        <p:nvSpPr>
          <p:cNvPr id="93" name="渲染 report.html"/>
          <p:cNvSpPr/>
          <p:nvPr/>
        </p:nvSpPr>
        <p:spPr>
          <a:xfrm>
            <a:off x="4343400" y="7534656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渲染 report.html</a:t>
            </a:r>
          </a:p>
        </p:txBody>
      </p:sp>
      <p:sp>
        <p:nvSpPr>
          <p:cNvPr id="44" name="persistAndUploadNode"/>
          <p:cNvSpPr/>
          <p:nvPr/>
        </p:nvSpPr>
        <p:spPr>
          <a:xfrm>
            <a:off x="502920" y="7918704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persistAndUploadNode</a:t>
            </a:r>
          </a:p>
        </p:txBody>
      </p:sp>
      <p:sp>
        <p:nvSpPr>
          <p:cNvPr id="94" name="落盘全部 inputs / intermediate / outputs 并回调"/>
          <p:cNvSpPr/>
          <p:nvPr/>
        </p:nvSpPr>
        <p:spPr>
          <a:xfrm>
            <a:off x="4343400" y="7918704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落盘全部 inputs / intermediate / outputs 并回调</a:t>
            </a:r>
          </a:p>
        </p:txBody>
      </p:sp>
      <p:sp>
        <p:nvSpPr>
          <p:cNvPr id="45" name="humanRatingGapAnalysisNode"/>
          <p:cNvSpPr/>
          <p:nvPr/>
        </p:nvSpPr>
        <p:spPr>
          <a:xfrm>
            <a:off x="502920" y="8302752"/>
            <a:ext cx="365760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humanRatingGapAnalysisNode</a:t>
            </a:r>
          </a:p>
        </p:txBody>
      </p:sp>
      <p:sp>
        <p:nvSpPr>
          <p:cNvPr id="95" name="只在人工评级达到阈值时做差异分析"/>
          <p:cNvSpPr/>
          <p:nvPr/>
        </p:nvSpPr>
        <p:spPr>
          <a:xfrm>
            <a:off x="4343400" y="8302752"/>
            <a:ext cx="7269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BF24"/>
            </a:solidFill>
          </a:ln>
        </p:spPr>
        <p:txBody>
          <a:bodyPr wrap="square" rtlCol="0"/>
          <a:lstStyle/>
          <a:p>
            <a:pPr algn="l"/>
            <a:r>
              <a:rPr lang="zh-CN" sz="700" dirty="0">
                <a:solidFill>
                  <a:srgbClr val="334155"/>
                </a:solidFill>
                <a:latin typeface="Microsoft YaHei"/>
                <a:ea typeface="Microsoft YaHei"/>
              </a:rPr>
              <a:t>只在人工评级达到阈值时做差异分析</a:t>
            </a:r>
          </a:p>
        </p:txBody>
      </p:sp>
      <p:sp>
        <p:nvSpPr>
          <p:cNvPr id="999" name="Footer"/>
          <p:cNvSpPr txBox="1"/>
          <p:nvPr/>
        </p:nvSpPr>
        <p:spPr>
          <a:xfrm>
            <a:off x="10698480" y="64190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00" dirty="0">
                <a:solidFill>
                  <a:srgbClr val="94A3B8"/>
                </a:solidFill>
                <a:latin typeface="Microsoft YaHei"/>
                <a:ea typeface="Microsoft YaHe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400" dirty="0" b="1">
                <a:solidFill>
                  <a:srgbClr val="0F172A"/>
                </a:solidFill>
                <a:latin typeface="Microsoft YaHei"/>
                <a:ea typeface="Microsoft YaHei"/>
              </a:rPr>
              <a:t>分数计算规则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667512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</a:rPr>
              <a:t>Rubric 离散档位基础分 + 规则修正 + hard gate 上限</a:t>
            </a:r>
          </a:p>
        </p:txBody>
      </p:sp>
      <p:sp>
        <p:nvSpPr>
          <p:cNvPr id="10" name="Rubric"/>
          <p:cNvSpPr/>
          <p:nvPr/>
        </p:nvSpPr>
        <p:spPr>
          <a:xfrm>
            <a:off x="411480" y="960120"/>
            <a:ext cx="3520440" cy="138988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1E3A8A"/>
                </a:solidFill>
                <a:latin typeface="Microsoft YaHei"/>
                <a:ea typeface="Microsoft YaHei"/>
              </a:rPr>
              <a:t>基础分：按任务类型加载模板</a:t>
            </a:r>
          </a:p>
          <a:p>
            <a:pPr algn="l"/>
            <a:r>
              <a:rPr lang="zh-CN" sz="800" dirty="0">
                <a:solidFill>
                  <a:srgbClr val="1E3A8A"/>
                </a:solidFill>
                <a:latin typeface="Microsoft YaHei"/>
                <a:ea typeface="Microsoft YaHei"/>
              </a:rPr>
              <a:t>总分 100，item 使用 scoring_bands 离散档位</a:t>
            </a:r>
          </a:p>
          <a:p>
            <a:pPr algn="l"/>
            <a:r>
              <a:rPr lang="zh-CN" sz="800" dirty="0">
                <a:solidFill>
                  <a:srgbClr val="1E3A8A"/>
                </a:solidFill>
                <a:latin typeface="Microsoft YaHei"/>
                <a:ea typeface="Microsoft YaHei"/>
              </a:rPr>
              <a:t>rubric agent 必须覆盖每个 item；失败时保留满分并降低 confidence</a:t>
            </a:r>
          </a:p>
        </p:txBody>
      </p:sp>
      <p:sp>
        <p:nvSpPr>
          <p:cNvPr id="11" name="Dimensions"/>
          <p:cNvSpPr/>
          <p:nvPr/>
        </p:nvSpPr>
        <p:spPr>
          <a:xfrm>
            <a:off x="4160520" y="960120"/>
            <a:ext cx="3611880" cy="138988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full_generation：20/20/20/15/15/10</a:t>
            </a:r>
          </a:p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continuation：20/20/15/15/15/10/5</a:t>
            </a:r>
          </a:p>
          <a:p>
            <a:pPr algn="l"/>
            <a:r>
              <a:rPr lang="zh-CN" sz="800" dirty="0">
                <a:solidFill>
                  <a:srgbClr val="14532D"/>
                </a:solidFill>
                <a:latin typeface="Microsoft YaHei"/>
                <a:ea typeface="Microsoft YaHei"/>
              </a:rPr>
              <a:t>bug_fix：25/20/15/15/10/10/5</a:t>
            </a:r>
          </a:p>
        </p:txBody>
      </p:sp>
      <p:sp>
        <p:nvSpPr>
          <p:cNvPr id="12" name="RuleDelta"/>
          <p:cNvSpPr/>
          <p:nvPr/>
        </p:nvSpPr>
        <p:spPr>
          <a:xfrm>
            <a:off x="8001000" y="960120"/>
            <a:ext cx="3474720" cy="138988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800" dirty="0">
                <a:solidFill>
                  <a:srgbClr val="78350F"/>
                </a:solidFill>
                <a:latin typeface="Microsoft YaHei"/>
                <a:ea typeface="Microsoft YaHei"/>
              </a:rPr>
              <a:t>rule_delta = Σ rule_impact.score_delta</a:t>
            </a:r>
          </a:p>
          <a:p>
            <a:pPr algn="l"/>
            <a:r>
              <a:rPr lang="zh-CN" sz="800" dirty="0">
                <a:solidFill>
                  <a:srgbClr val="78350F"/>
                </a:solidFill>
                <a:latin typeface="Microsoft YaHei"/>
                <a:ea typeface="Microsoft YaHei"/>
              </a:rPr>
              <a:t>final_item = snap_to_nearest_declared_scoring_band(max(0, base + delta))</a:t>
            </a:r>
          </a:p>
          <a:p>
            <a:pPr algn="l"/>
            <a:r>
              <a:rPr lang="zh-CN" sz="800" dirty="0">
                <a:solidFill>
                  <a:srgbClr val="78350F"/>
                </a:solidFill>
                <a:latin typeface="Microsoft YaHei"/>
                <a:ea typeface="Microsoft YaHei"/>
              </a:rPr>
              <a:t>官方工具 / 规则包各有自己的 ratio 映射</a:t>
            </a:r>
          </a:p>
        </p:txBody>
      </p:sp>
      <p:sp>
        <p:nvSpPr>
          <p:cNvPr id="20" name="HardGate"/>
          <p:cNvSpPr/>
          <p:nvPr/>
        </p:nvSpPr>
        <p:spPr>
          <a:xfrm>
            <a:off x="594360" y="278892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G1 / G2 / G3 / G4</a:t>
            </a:r>
          </a:p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G1 高密度静态错误 cap=69</a:t>
            </a:r>
          </a:p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G2 ArkTS/HarmonyOS 基本规范严重不符 cap=69</a:t>
            </a:r>
          </a:p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G3 严重工程风险 cap=79</a:t>
            </a:r>
          </a:p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G4 bug_fix 误修/过修 cap=59</a:t>
            </a:r>
          </a:p>
        </p:txBody>
      </p:sp>
      <p:sp>
        <p:nvSpPr>
          <p:cNvPr id="21" name="Formula"/>
          <p:cNvSpPr/>
          <p:nvPr/>
        </p:nvSpPr>
        <p:spPr>
          <a:xfrm>
            <a:off x="6172200" y="278892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raw_total = Σ dimension_score</a:t>
            </a:r>
          </a:p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score_cap = min(triggered gate caps + hvigor cap)</a:t>
            </a:r>
          </a:p>
          <a:p>
            <a:pPr algn="l"/>
            <a:r>
              <a:rPr lang="zh-CN" sz="900" dirty="0" b="1">
                <a:solidFill>
                  <a:srgbClr val="111827"/>
                </a:solidFill>
                <a:latin typeface="Microsoft YaHei"/>
                <a:ea typeface="Microsoft YaHei"/>
              </a:rPr>
              <a:t>total_score = score_cap ? min(raw_total, score_cap) : raw_total</a:t>
            </a:r>
          </a:p>
        </p:txBody>
      </p:sp>
      <p:sp>
        <p:nvSpPr>
          <p:cNvPr id="30" name="Risk"/>
          <p:cNvSpPr/>
          <p:nvPr/>
        </p:nvSpPr>
        <p:spPr>
          <a:xfrm>
            <a:off x="777240" y="4480560"/>
            <a:ext cx="48920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312E81"/>
                </a:solidFill>
                <a:latin typeface="Microsoft YaHei"/>
                <a:ea typeface="Microsoft YaHei"/>
              </a:rPr>
              <a:t>risk 项来自规则违规和构建检查；score_effect 会记录原始扣分、等级权重、hard gate ids 和 gate_caps。</a:t>
            </a:r>
          </a:p>
        </p:txBody>
      </p:sp>
      <p:sp>
        <p:nvSpPr>
          <p:cNvPr id="31" name="ResultFields"/>
          <p:cNvSpPr/>
          <p:nvPr/>
        </p:nvSpPr>
        <p:spPr>
          <a:xfrm>
            <a:off x="5989320" y="4480560"/>
            <a:ext cx="4892040" cy="731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6B6D4"/>
            </a:solidFill>
          </a:ln>
        </p:spPr>
        <p:txBody>
          <a:bodyPr wrap="square" rtlCol="0"/>
          <a:lstStyle/>
          <a:p>
            <a:pPr algn="l"/>
            <a:r>
              <a:rPr lang="zh-CN" sz="1000" dirty="0" b="1">
                <a:solidFill>
                  <a:srgbClr val="155E75"/>
                </a:solidFill>
                <a:latin typeface="Microsoft YaHei"/>
                <a:ea typeface="Microsoft YaHei"/>
              </a:rPr>
              <a:t>result.json 记录 agent_evaluation、rule_impacts、score_fusion、risks、human_review_items、official_linter_results、build_check_summary。</a:t>
            </a:r>
          </a:p>
        </p:txBody>
      </p:sp>
      <p:sp>
        <p:nvSpPr>
          <p:cNvPr id="999" name="Footer"/>
          <p:cNvSpPr txBox="1"/>
          <p:nvPr/>
        </p:nvSpPr>
        <p:spPr>
          <a:xfrm>
            <a:off x="10698480" y="64190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00" dirty="0">
                <a:solidFill>
                  <a:srgbClr val="94A3B8"/>
                </a:solidFill>
                <a:latin typeface="Microsoft YaHei"/>
                <a:ea typeface="Microsoft YaHe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2400" dirty="0" b="1">
                <a:solidFill>
                  <a:srgbClr val="0F172A"/>
                </a:solidFill>
                <a:latin typeface="Microsoft YaHei"/>
                <a:ea typeface="Microsoft YaHei"/>
              </a:rPr>
              <a:t>Case 目录树状图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0352" y="667512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</a:rPr>
              <a:t>每个 caseDir 保存输入快照、中间证据、输出报告、日志和人工分析产物</a:t>
            </a:r>
          </a:p>
        </p:txBody>
      </p:sp>
      <p:sp>
        <p:nvSpPr>
          <p:cNvPr id="10" name="Tree"/>
          <p:cNvSpPr/>
          <p:nvPr/>
        </p:nvSpPr>
        <p:spPr>
          <a:xfrm>
            <a:off x="384048" y="941832"/>
            <a:ext cx="672084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/>
          <a:lstStyle/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.local-cases/&lt;caseId&gt;/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|-- inputs/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case-info.json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remote-task.json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rubric-scoring-payload.json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`-- rule-agent-bootstrap-payload.json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|-- intermediate/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effective.patch | generated.patch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constraint-summary.json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case-rule-definitions.json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rule-audit.json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rubric-snapshot.json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agent-assisted-rule-candidates.json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rubric-agent-result.json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rule-agent-result.json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rule-audit-merged.json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score-fusion.json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report-schema-version.json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`-- code-linter/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    |-- summary.json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    |-- findings.effective.json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    |-- stdout.sanitized.txt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    |-- stderr.sanitized.txt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    |-- exit-code.txt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    `-- hvigor-summary.json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|-- outputs/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result.json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`-- report.html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|-- human-rating/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|-- manual-rating.json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`-- analysis.json | analysis-skipped.json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|-- logs/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|   `-- run.log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`-- opencode-sandbox/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    |-- generated/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    |-- original/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    |-- patch/effective.patch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    `-- metadata/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        |-- metadata.json</a:t>
            </a:r>
          </a:p>
          <a:p>
            <a:pPr algn="l"/>
            <a:r>
              <a:rPr lang="zh-CN" sz="500" dirty="0">
                <a:solidFill>
                  <a:srgbClr val="0F172A"/>
                </a:solidFill>
                <a:latin typeface="Microsoft YaHei"/>
                <a:ea typeface="Microsoft YaHei"/>
              </a:rPr>
              <a:t>        `-- agent-output/*.json</a:t>
            </a:r>
          </a:p>
        </p:txBody>
      </p:sp>
      <p:sp>
        <p:nvSpPr>
          <p:cNvPr id="20" name="Inputs"/>
          <p:cNvSpPr/>
          <p:nvPr/>
        </p:nvSpPr>
        <p:spPr>
          <a:xfrm>
            <a:off x="7315200" y="987552"/>
            <a:ext cx="3931920" cy="71323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1E3A8A"/>
                </a:solidFill>
                <a:latin typeface="Microsoft YaHei"/>
                <a:ea typeface="Microsoft YaHei"/>
              </a:rPr>
              <a:t>inputs/：输入快照和 agent payload。</a:t>
            </a:r>
          </a:p>
        </p:txBody>
      </p:sp>
      <p:sp>
        <p:nvSpPr>
          <p:cNvPr id="21" name="Intermediate"/>
          <p:cNvSpPr/>
          <p:nvPr/>
        </p:nvSpPr>
        <p:spPr>
          <a:xfrm>
            <a:off x="7315200" y="1901952"/>
            <a:ext cx="393192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78350F"/>
                </a:solidFill>
                <a:latin typeface="Microsoft YaHei"/>
                <a:ea typeface="Microsoft YaHei"/>
              </a:rPr>
              <a:t>intermediate/：节点级证据链和中间结果。</a:t>
            </a:r>
          </a:p>
        </p:txBody>
      </p:sp>
      <p:sp>
        <p:nvSpPr>
          <p:cNvPr id="22" name="Outputs"/>
          <p:cNvSpPr/>
          <p:nvPr/>
        </p:nvSpPr>
        <p:spPr>
          <a:xfrm>
            <a:off x="7315200" y="3090672"/>
            <a:ext cx="3931920" cy="7498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14532D"/>
                </a:solidFill>
                <a:latin typeface="Microsoft YaHei"/>
                <a:ea typeface="Microsoft YaHei"/>
              </a:rPr>
              <a:t>outputs/：result.json 和 report.html。</a:t>
            </a:r>
          </a:p>
        </p:txBody>
      </p:sp>
      <p:sp>
        <p:nvSpPr>
          <p:cNvPr id="23" name="Human"/>
          <p:cNvSpPr/>
          <p:nvPr/>
        </p:nvSpPr>
        <p:spPr>
          <a:xfrm>
            <a:off x="7315200" y="4069080"/>
            <a:ext cx="3931920" cy="7772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831843"/>
                </a:solidFill>
                <a:latin typeface="Microsoft YaHei"/>
                <a:ea typeface="Microsoft YaHei"/>
              </a:rPr>
              <a:t>human-rating/：manual-rating.json 与 analysis.json。</a:t>
            </a:r>
          </a:p>
        </p:txBody>
      </p:sp>
      <p:sp>
        <p:nvSpPr>
          <p:cNvPr id="24" name="Sandbox"/>
          <p:cNvSpPr/>
          <p:nvPr/>
        </p:nvSpPr>
        <p:spPr>
          <a:xfrm>
            <a:off x="7315200" y="5074920"/>
            <a:ext cx="3931920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txBody>
          <a:bodyPr wrap="square" rtlCol="0"/>
          <a:lstStyle/>
          <a:p>
            <a:pPr algn="l"/>
            <a:r>
              <a:rPr lang="zh-CN" sz="900" dirty="0" b="1">
                <a:solidFill>
                  <a:srgbClr val="312E81"/>
                </a:solidFill>
                <a:latin typeface="Microsoft YaHei"/>
                <a:ea typeface="Microsoft YaHei"/>
              </a:rPr>
              <a:t>opencode-sandbox/：agent 只读工作区。</a:t>
            </a:r>
          </a:p>
        </p:txBody>
      </p:sp>
      <p:sp>
        <p:nvSpPr>
          <p:cNvPr id="999" name="Footer"/>
          <p:cNvSpPr txBox="1"/>
          <p:nvPr/>
        </p:nvSpPr>
        <p:spPr>
          <a:xfrm>
            <a:off x="10698480" y="64190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zh-CN" sz="800" dirty="0">
                <a:solidFill>
                  <a:srgbClr val="94A3B8"/>
                </a:solidFill>
                <a:latin typeface="Microsoft YaHei"/>
                <a:ea typeface="Microsoft YaHe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mos">
  <a:themeElements>
    <a:clrScheme name="hmos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D97706"/>
      </a:accent3>
      <a:accent4>
        <a:srgbClr val="DB2777"/>
      </a:accent4>
      <a:accent5>
        <a:srgbClr val="6366F1"/>
      </a:accent5>
      <a:accent6>
        <a:srgbClr val="06B6D4"/>
      </a:accent6>
      <a:hlink>
        <a:srgbClr val="2563EB"/>
      </a:hlink>
      <a:folHlink>
        <a:srgbClr val="7C3AED"/>
      </a:folHlink>
    </a:clrScheme>
    <a:fontScheme name="hmos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hmo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hmos-score-agent 架构与链路总结</dc:title>
  <dc:creator>Codex</dc:creator>
  <cp:lastModifiedBy>Codex</cp:lastModifiedBy>
  <dcterms:created xsi:type="dcterms:W3CDTF">2026-05-21T01:45:10.890092+00:00</dcterms:created>
  <dcterms:modified xsi:type="dcterms:W3CDTF">2026-05-21T01:45:10.890092+00:00</dcterms:modified>
</cp:coreProperties>
</file>