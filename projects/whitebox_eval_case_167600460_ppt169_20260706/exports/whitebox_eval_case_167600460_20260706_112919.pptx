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这一页说明白盒代码评价的输入、证据和产物。样例任务是电视台元服务一多适配，任务类型是 continuation 和 incremental，构建结果为成功。评价输入包括原始工程包、生成后工程、增量补丁、Rubric 评分载荷和规则判定载荷。白盒过程读取二千七百零九行 patch，识别十一个实质变更源码文件，并结合 Code Linter、Rubric Agent 和 Rule Agent 的输出形成证据链。流程从远程任务输入开始，经过沙箱准备、Patch 和工程解析、官方 Code Linter、Rubric 基础评分、规则判定、规则合并、分数融合，最后生成 result.json 和 report.html。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这一页说明最终六十九分的形成过程。Rubric 基础分合计八十八分，主要扣分来自注释处理不一致、contentMaxWidth 的 falsy 逻辑、VideoProgramDetails 中大段重复的 VideoCard 配置、isWideScreen 判断散布在多个组件中、windowSizeChange 监听未注销，以及与一多适配无关的注释和常量清理。规则修正进一步影响评分项，三个断点 MUST 规则分别对 ArkTS/ArkUI 语法与类型安全扣二点一分，并对 ArkTS 约束遵循度扣一点七五分；若干 SHOULD 和官方 linter 规则继续对静态坏味道、性能风险、ArkUI 组织方式和 HarmonyOS 工程实践扣分。规则修正后分数为七十三分，随后 G1 高密度静态错误硬门槛触发，must_rule 不满足数量阈值为二、实际为三，分数上限为六十九分。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6334125"/>
            <a:chOff x="0" y="0"/>
            <a:chExt cx="12192000" cy="6334125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"/>
            </a:xfrm>
            <a:prstGeom prst="rect">
              <a:avLst/>
            </a:prstGeom>
            <a:solidFill>
              <a:srgbClr val="C7000A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33400" y="1066800"/>
              <a:ext cx="111252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33400" y="6324600"/>
              <a:ext cx="11125200" cy="9525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01015" y="277178"/>
            <a:ext cx="11240839" cy="820578"/>
            <a:chOff x="501015" y="277178"/>
            <a:chExt cx="11240839" cy="820578"/>
          </a:xfrm>
        </p:grpSpPr>
        <p:sp>
          <p:nvSpPr>
            <p:cNvPr id="7" name="TextBox 7"/>
            <p:cNvSpPr txBox="1"/>
            <p:nvPr/>
          </p:nvSpPr>
          <p:spPr>
            <a:xfrm>
              <a:off x="501015" y="277178"/>
              <a:ext cx="791975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白盒代码评价流程：以电视台元服务一多适配为例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8162" y="678656"/>
              <a:ext cx="4479131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Case: .local-cases/20260608T105703_case_167600460_dbee0885 </a:t>
              </a:r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Task ID 167600460 · continuation / incremental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982200" y="438150"/>
              <a:ext cx="1676400" cy="342900"/>
            </a:xfrm>
            <a:prstGeom prst="roundRect">
              <a:avLst>
                <a:gd name="adj" fmla="val 11111"/>
              </a:avLst>
            </a:prstGeom>
            <a:solidFill>
              <a:srgbClr val="C7000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77462" y="545306"/>
              <a:ext cx="15643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Build Success = true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257300"/>
            <a:ext cx="11125200" cy="576262"/>
            <a:chOff x="533400" y="1257300"/>
            <a:chExt cx="11125200" cy="576262"/>
          </a:xfrm>
        </p:grpSpPr>
        <p:sp>
          <p:nvSpPr>
            <p:cNvPr id="12" name="Rectangle 12"/>
            <p:cNvSpPr/>
            <p:nvPr/>
          </p:nvSpPr>
          <p:spPr>
            <a:xfrm>
              <a:off x="533400" y="1257300"/>
              <a:ext cx="11125200" cy="533400"/>
            </a:xfrm>
            <a:prstGeom prst="roundRect">
              <a:avLst>
                <a:gd name="adj" fmla="val 10714"/>
              </a:avLst>
            </a:prstGeom>
            <a:solidFill>
              <a:srgbClr val="C7000A">
                <a:alpha val="6000"/>
              </a:srgbClr>
            </a:solidFill>
            <a:ln w="9525">
              <a:solidFill>
                <a:srgbClr val="D9D9D9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1257300"/>
              <a:ext cx="76200" cy="533400"/>
            </a:xfrm>
            <a:prstGeom prst="roundRect">
              <a:avLst>
                <a:gd name="adj" fmla="val 50000"/>
              </a:avLst>
            </a:prstGeom>
            <a:solidFill>
              <a:srgbClr val="C7000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3905" y="1330642"/>
              <a:ext cx="5795010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b="1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本样例评价流程把远程任务、增量补丁、静态检查、规则判定和评分结果</a:t>
              </a:r>
              <a:r>
                <a:rPr lang="zh-CN" sz="1350" b="1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组织为一条可追溯证据链。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2038350"/>
            <a:ext cx="3748087" cy="2031206"/>
            <a:chOff x="533400" y="2038350"/>
            <a:chExt cx="3748087" cy="2031206"/>
          </a:xfrm>
        </p:grpSpPr>
        <p:sp>
          <p:nvSpPr>
            <p:cNvPr id="16" name="Rectangle 16"/>
            <p:cNvSpPr/>
            <p:nvPr/>
          </p:nvSpPr>
          <p:spPr>
            <a:xfrm>
              <a:off x="533400" y="2038350"/>
              <a:ext cx="3429000" cy="2000250"/>
            </a:xfrm>
            <a:prstGeom prst="roundRect">
              <a:avLst>
                <a:gd name="adj" fmla="val 2857"/>
              </a:avLst>
            </a:prstGeom>
            <a:solidFill>
              <a:srgbClr val="F7F7F5"/>
            </a:solidFill>
            <a:ln w="9525">
              <a:solidFill>
                <a:srgbClr val="D9D9D9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04862" y="2302669"/>
              <a:ext cx="202407" cy="226219"/>
              <a:chOff x="804862" y="2302669"/>
              <a:chExt cx="202407" cy="22621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947738" y="2302669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54201"/>
                      <a:pt x="5331" y="59531"/>
                      <a:pt x="11906" y="59531"/>
                    </a:cubicBezTo>
                    <a:lnTo>
                      <a:pt x="59531" y="59531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04862" y="2302669"/>
                <a:ext cx="202406" cy="226219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26219">
                    <a:moveTo>
                      <a:pt x="35719" y="119062"/>
                    </a:moveTo>
                    <a:lnTo>
                      <a:pt x="35719" y="23812"/>
                    </a:lnTo>
                    <a:cubicBezTo>
                      <a:pt x="35719" y="10661"/>
                      <a:pt x="46380" y="0"/>
                      <a:pt x="59531" y="0"/>
                    </a:cubicBezTo>
                    <a:lnTo>
                      <a:pt x="142875" y="0"/>
                    </a:lnTo>
                    <a:lnTo>
                      <a:pt x="202406" y="59531"/>
                    </a:lnTo>
                    <a:lnTo>
                      <a:pt x="202406" y="190500"/>
                    </a:lnTo>
                    <a:cubicBezTo>
                      <a:pt x="202406" y="203651"/>
                      <a:pt x="191745" y="214312"/>
                      <a:pt x="178594" y="214312"/>
                    </a:cubicBezTo>
                    <a:lnTo>
                      <a:pt x="113109" y="214312"/>
                    </a:lnTo>
                    <a:moveTo>
                      <a:pt x="0" y="190500"/>
                    </a:moveTo>
                    <a:lnTo>
                      <a:pt x="83344" y="190500"/>
                    </a:lnTo>
                    <a:moveTo>
                      <a:pt x="47625" y="154781"/>
                    </a:moveTo>
                    <a:lnTo>
                      <a:pt x="83344" y="190500"/>
                    </a:lnTo>
                    <a:lnTo>
                      <a:pt x="47625" y="226219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162050" y="2314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输入材料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6762" y="2774156"/>
              <a:ext cx="3514725" cy="1295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原始工程包：TelevisionNews1.0.0_one2many.zip</a:t>
              </a: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生成后工程：execution_2296_output.zip</a:t>
              </a: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 xml:space="preserve">增量补丁：execution_2296_changes.patch </a:t>
              </a: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Rubric 评分载荷：rubric-scoring-payload.json</a:t>
              </a: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规则判定载荷：rule-agent-bootstrap-payload.json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2038350"/>
            <a:ext cx="3429000" cy="2031206"/>
            <a:chOff x="4381500" y="2038350"/>
            <a:chExt cx="3429000" cy="2031206"/>
          </a:xfrm>
        </p:grpSpPr>
        <p:sp>
          <p:nvSpPr>
            <p:cNvPr id="23" name="Rectangle 23"/>
            <p:cNvSpPr/>
            <p:nvPr/>
          </p:nvSpPr>
          <p:spPr>
            <a:xfrm>
              <a:off x="4381500" y="2038350"/>
              <a:ext cx="3429000" cy="2000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688681" y="2302669"/>
              <a:ext cx="166688" cy="214312"/>
              <a:chOff x="4688681" y="2302669"/>
              <a:chExt cx="166688" cy="21431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795838" y="2302669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54201"/>
                      <a:pt x="5331" y="59531"/>
                      <a:pt x="11906" y="59531"/>
                    </a:cubicBezTo>
                    <a:lnTo>
                      <a:pt x="59531" y="59531"/>
                    </a:lnTo>
                  </a:path>
                </a:pathLst>
              </a:custGeom>
              <a:noFill/>
              <a:ln w="19050">
                <a:solidFill>
                  <a:srgbClr val="F26B4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688681" y="2302669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42875" y="214312"/>
                    </a:moveTo>
                    <a:lnTo>
                      <a:pt x="23812" y="214312"/>
                    </a:lnTo>
                    <a:cubicBezTo>
                      <a:pt x="10661" y="214312"/>
                      <a:pt x="0" y="203651"/>
                      <a:pt x="0" y="19050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07156" y="0"/>
                    </a:lnTo>
                    <a:lnTo>
                      <a:pt x="166688" y="59531"/>
                    </a:lnTo>
                    <a:lnTo>
                      <a:pt x="166688" y="190500"/>
                    </a:lnTo>
                    <a:cubicBezTo>
                      <a:pt x="166688" y="203651"/>
                      <a:pt x="156026" y="214312"/>
                      <a:pt x="142875" y="214312"/>
                    </a:cubicBezTo>
                  </a:path>
                </a:pathLst>
              </a:custGeom>
              <a:noFill/>
              <a:ln w="19050">
                <a:solidFill>
                  <a:srgbClr val="F26B4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72025" y="238601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26B43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748212" y="240982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F26B43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748212" y="2469356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F26B43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010150" y="2314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白盒证据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14862" y="2774156"/>
              <a:ext cx="3171825" cy="1295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Patch 全量读取：2709 行</a:t>
              </a: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实质变更源码文件：11 个</a:t>
              </a: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覆盖：断点工具、窗口模型、入口监听</a:t>
              </a: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页面：首页、详情页、我的页、订阅列表、标签栏</a:t>
              </a: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Code Linter：成功，2 条有效告警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29600" y="2038350"/>
            <a:ext cx="3429000" cy="2031206"/>
            <a:chOff x="8229600" y="2038350"/>
            <a:chExt cx="3429000" cy="2031206"/>
          </a:xfrm>
        </p:grpSpPr>
        <p:sp>
          <p:nvSpPr>
            <p:cNvPr id="33" name="Rectangle 33"/>
            <p:cNvSpPr/>
            <p:nvPr/>
          </p:nvSpPr>
          <p:spPr>
            <a:xfrm>
              <a:off x="8229600" y="2038350"/>
              <a:ext cx="3429000" cy="20002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536781" y="2302669"/>
              <a:ext cx="166688" cy="214312"/>
              <a:chOff x="8536781" y="2302669"/>
              <a:chExt cx="166688" cy="21431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536781" y="232648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584406" y="230266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584406" y="2409825"/>
                <a:ext cx="9525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9531">
                    <a:moveTo>
                      <a:pt x="0" y="59531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620125" y="2457450"/>
                <a:ext cx="9525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906">
                    <a:moveTo>
                      <a:pt x="0" y="11906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655844" y="2433638"/>
                <a:ext cx="95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719">
                    <a:moveTo>
                      <a:pt x="0" y="3571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8858250" y="2314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输出产物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2962" y="2774156"/>
              <a:ext cx="2550319" cy="1295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Rule Agent：38 条候选规则判定</a:t>
              </a: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判定分布：10 通过，26 不适用，2 违规</a:t>
              </a: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规则合并：117 条结果进入融合</a:t>
              </a: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最终文件：outputs/result.json</a:t>
              </a:r>
              <a:r>
                <a:rPr lang="zh-CN" sz="1125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报告文件：outputs/report.html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14350" y="4314825"/>
            <a:ext cx="11001375" cy="1493044"/>
            <a:chOff x="514350" y="4314825"/>
            <a:chExt cx="11001375" cy="1493044"/>
          </a:xfrm>
        </p:grpSpPr>
        <p:sp>
          <p:nvSpPr>
            <p:cNvPr id="43" name="TextBox 43"/>
            <p:cNvSpPr txBox="1"/>
            <p:nvPr/>
          </p:nvSpPr>
          <p:spPr>
            <a:xfrm>
              <a:off x="514350" y="4314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流程节点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95350" y="52197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noFill/>
            <a:ln w="19050">
              <a:solidFill>
                <a:srgbClr val="D9D9D9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11182350" y="51530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521018" y="4981575"/>
              <a:ext cx="804862" cy="826294"/>
              <a:chOff x="521018" y="4981575"/>
              <a:chExt cx="804862" cy="826294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676275" y="4981575"/>
                <a:ext cx="476250" cy="476250"/>
              </a:xfrm>
              <a:prstGeom prst="ellipse">
                <a:avLst/>
              </a:prstGeom>
              <a:solidFill>
                <a:srgbClr val="C7000A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21055" y="51406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21018" y="560974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远程任务输入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825942" y="4981575"/>
              <a:ext cx="621983" cy="826294"/>
              <a:chOff x="1825942" y="4981575"/>
              <a:chExt cx="621983" cy="826294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1971675" y="4981575"/>
                <a:ext cx="476250" cy="476250"/>
              </a:xfrm>
              <a:prstGeom prst="ellipse">
                <a:avLst/>
              </a:prstGeom>
              <a:solidFill>
                <a:srgbClr val="F26B43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2116455" y="51406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825942" y="56097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沙箱准备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3092768" y="4981575"/>
              <a:ext cx="973884" cy="826294"/>
              <a:chOff x="3092768" y="4981575"/>
              <a:chExt cx="973884" cy="826294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3267075" y="4981575"/>
                <a:ext cx="476250" cy="476250"/>
              </a:xfrm>
              <a:prstGeom prst="ellipse">
                <a:avLst/>
              </a:prstGeom>
              <a:solidFill>
                <a:srgbClr val="F26B43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3411855" y="51406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092768" y="5609749"/>
                <a:ext cx="9738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Patch/工程解析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4359592" y="4981575"/>
              <a:ext cx="746355" cy="826294"/>
              <a:chOff x="4359592" y="4981575"/>
              <a:chExt cx="746355" cy="826294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4562475" y="4981575"/>
                <a:ext cx="476250" cy="476250"/>
              </a:xfrm>
              <a:prstGeom prst="ellipse">
                <a:avLst/>
              </a:prstGeom>
              <a:solidFill>
                <a:srgbClr val="F26B43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4707255" y="51406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4359592" y="5609749"/>
                <a:ext cx="7463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Code Linter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5693092" y="4981575"/>
              <a:ext cx="817864" cy="826294"/>
              <a:chOff x="5693092" y="4981575"/>
              <a:chExt cx="817864" cy="826294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5857875" y="4981575"/>
                <a:ext cx="476250" cy="476250"/>
              </a:xfrm>
              <a:prstGeom prst="ellipse">
                <a:avLst/>
              </a:prstGeom>
              <a:solidFill>
                <a:srgbClr val="F26B43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6002655" y="51406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5693092" y="5609749"/>
                <a:ext cx="8178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Rubric Agent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7055168" y="4981575"/>
              <a:ext cx="674846" cy="826294"/>
              <a:chOff x="7055168" y="4981575"/>
              <a:chExt cx="674846" cy="826294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7153275" y="4981575"/>
                <a:ext cx="476250" cy="476250"/>
              </a:xfrm>
              <a:prstGeom prst="ellipse">
                <a:avLst/>
              </a:prstGeom>
              <a:solidFill>
                <a:srgbClr val="F26B43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298055" y="51406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6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055168" y="560974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Rule Agent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360092" y="4981575"/>
              <a:ext cx="564833" cy="826294"/>
              <a:chOff x="8360092" y="4981575"/>
              <a:chExt cx="564833" cy="826294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448675" y="4981575"/>
                <a:ext cx="476250" cy="476250"/>
              </a:xfrm>
              <a:prstGeom prst="ellipse">
                <a:avLst/>
              </a:prstGeom>
              <a:solidFill>
                <a:srgbClr val="F26B43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8593455" y="51406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7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360092" y="56097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规则合并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9655492" y="4981575"/>
              <a:ext cx="564833" cy="826294"/>
              <a:chOff x="9655492" y="4981575"/>
              <a:chExt cx="564833" cy="826294"/>
            </a:xfrm>
          </p:grpSpPr>
          <p:sp>
            <p:nvSpPr>
              <p:cNvPr id="74" name="Ellipse 74"/>
              <p:cNvSpPr/>
              <p:nvPr/>
            </p:nvSpPr>
            <p:spPr>
              <a:xfrm>
                <a:off x="9744075" y="4981575"/>
                <a:ext cx="476250" cy="476250"/>
              </a:xfrm>
              <a:prstGeom prst="ellipse">
                <a:avLst/>
              </a:prstGeom>
              <a:solidFill>
                <a:srgbClr val="C7000A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9888855" y="51406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8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655492" y="56097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分数融合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10950892" y="4981575"/>
              <a:ext cx="564833" cy="826294"/>
              <a:chOff x="10950892" y="4981575"/>
              <a:chExt cx="564833" cy="826294"/>
            </a:xfrm>
          </p:grpSpPr>
          <p:sp>
            <p:nvSpPr>
              <p:cNvPr id="78" name="Ellipse 78"/>
              <p:cNvSpPr/>
              <p:nvPr/>
            </p:nvSpPr>
            <p:spPr>
              <a:xfrm>
                <a:off x="11039475" y="4981575"/>
                <a:ext cx="476250" cy="476250"/>
              </a:xfrm>
              <a:prstGeom prst="ellipse">
                <a:avLst/>
              </a:prstGeom>
              <a:solidFill>
                <a:srgbClr val="C7000A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11184255" y="51406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9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0950892" y="56097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报告生成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521970" y="6475095"/>
            <a:ext cx="11245310" cy="182880"/>
            <a:chOff x="521970" y="6475095"/>
            <a:chExt cx="11245310" cy="182880"/>
          </a:xfrm>
        </p:grpSpPr>
        <p:sp>
          <p:nvSpPr>
            <p:cNvPr id="83" name="TextBox 83"/>
            <p:cNvSpPr txBox="1"/>
            <p:nvPr/>
          </p:nvSpPr>
          <p:spPr>
            <a:xfrm>
              <a:off x="521970" y="6475095"/>
              <a:ext cx="46854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19191"/>
                  </a:solidFill>
                  <a:latin typeface="Consolas"/>
                  <a:ea typeface="Microsoft YaHei"/>
                  <a:cs typeface="Consolas"/>
                </a:rPr>
                <a:t>Source: outputs/result.json, agent-output/*.json, code-linter/summary.json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34237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19191"/>
                  </a:solidFill>
                  <a:latin typeface="Arial"/>
                  <a:ea typeface="Microsoft YaHei"/>
                  <a:cs typeface="Arial"/>
                </a:rPr>
                <a:t>01 / 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32" grpId="0"/>
      <p:bldP spid="42" grpId="0"/>
      <p:bldP spid="8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6334125"/>
            <a:chOff x="0" y="0"/>
            <a:chExt cx="12192000" cy="6334125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"/>
            </a:xfrm>
            <a:prstGeom prst="rect">
              <a:avLst/>
            </a:prstGeom>
            <a:solidFill>
              <a:srgbClr val="C7000A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33400" y="1066800"/>
              <a:ext cx="111252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33400" y="6324600"/>
              <a:ext cx="11125200" cy="9525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277178"/>
            <a:ext cx="8044717" cy="696753"/>
            <a:chOff x="501015" y="277178"/>
            <a:chExt cx="8044717" cy="696753"/>
          </a:xfrm>
        </p:grpSpPr>
        <p:sp>
          <p:nvSpPr>
            <p:cNvPr id="7" name="TextBox 7"/>
            <p:cNvSpPr txBox="1"/>
            <p:nvPr/>
          </p:nvSpPr>
          <p:spPr>
            <a:xfrm>
              <a:off x="501015" y="277178"/>
              <a:ext cx="804471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评分结果拆解：Rubric 基础分、规则修正与硬门槛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8162" y="745331"/>
              <a:ext cx="41165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样例结果：Rubric 基础分 88 → 规则修正后 73 → G1 封顶后 69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1295400"/>
            <a:ext cx="3810000" cy="1600200"/>
            <a:chOff x="533400" y="1295400"/>
            <a:chExt cx="3810000" cy="1600200"/>
          </a:xfrm>
        </p:grpSpPr>
        <p:sp>
          <p:nvSpPr>
            <p:cNvPr id="10" name="Rectangle 10"/>
            <p:cNvSpPr/>
            <p:nvPr/>
          </p:nvSpPr>
          <p:spPr>
            <a:xfrm>
              <a:off x="533400" y="1295400"/>
              <a:ext cx="3810000" cy="1600200"/>
            </a:xfrm>
            <a:prstGeom prst="roundRect">
              <a:avLst>
                <a:gd name="adj" fmla="val 3571"/>
              </a:avLst>
            </a:prstGeom>
            <a:solidFill>
              <a:srgbClr val="F7F7F5"/>
            </a:solidFill>
            <a:ln w="9525">
              <a:solidFill>
                <a:srgbClr val="D9D9D9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76288" y="1549400"/>
              <a:ext cx="200025" cy="187325"/>
              <a:chOff x="776288" y="1549400"/>
              <a:chExt cx="200025" cy="1873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76288" y="1638300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0" y="11112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2" y="0"/>
                    </a:lnTo>
                    <a:cubicBezTo>
                      <a:pt x="61700" y="0"/>
                      <a:pt x="66675" y="4975"/>
                      <a:pt x="66675" y="11112"/>
                    </a:cubicBezTo>
                    <a:lnTo>
                      <a:pt x="66675" y="77787"/>
                    </a:lnTo>
                    <a:cubicBezTo>
                      <a:pt x="66675" y="83925"/>
                      <a:pt x="61700" y="88900"/>
                      <a:pt x="55562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7"/>
                    </a:cubicBezTo>
                    <a:lnTo>
                      <a:pt x="0" y="11112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09638" y="1593850"/>
                <a:ext cx="666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33350">
                    <a:moveTo>
                      <a:pt x="0" y="11112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2"/>
                    </a:cubicBezTo>
                    <a:lnTo>
                      <a:pt x="66675" y="122237"/>
                    </a:lnTo>
                    <a:cubicBezTo>
                      <a:pt x="66675" y="128375"/>
                      <a:pt x="61700" y="133350"/>
                      <a:pt x="55563" y="133350"/>
                    </a:cubicBezTo>
                    <a:lnTo>
                      <a:pt x="11113" y="133350"/>
                    </a:lnTo>
                    <a:cubicBezTo>
                      <a:pt x="4975" y="133350"/>
                      <a:pt x="0" y="128375"/>
                      <a:pt x="0" y="122237"/>
                    </a:cubicBezTo>
                    <a:lnTo>
                      <a:pt x="0" y="11112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42962" y="1549400"/>
                <a:ext cx="6667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7780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66688"/>
                    </a:lnTo>
                    <a:cubicBezTo>
                      <a:pt x="66675" y="172825"/>
                      <a:pt x="61700" y="177800"/>
                      <a:pt x="55563" y="177800"/>
                    </a:cubicBezTo>
                    <a:lnTo>
                      <a:pt x="11113" y="177800"/>
                    </a:lnTo>
                    <a:cubicBezTo>
                      <a:pt x="4975" y="177800"/>
                      <a:pt x="0" y="172825"/>
                      <a:pt x="0" y="1666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87400" y="1727200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85850" y="154305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总分链路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81050" y="2019300"/>
              <a:ext cx="859250" cy="790575"/>
              <a:chOff x="781050" y="2019300"/>
              <a:chExt cx="859250" cy="79057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781050" y="2019300"/>
                <a:ext cx="8382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58215" y="2067878"/>
                <a:ext cx="457519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88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55345" y="2626995"/>
                <a:ext cx="7849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Rubric 基础分</a:t>
                </a:r>
              </a:p>
            </p:txBody>
          </p:sp>
        </p:grpSp>
        <p:sp>
          <p:nvSpPr>
            <p:cNvPr id="21" name="Polygon 21"/>
            <p:cNvSpPr/>
            <p:nvPr/>
          </p:nvSpPr>
          <p:spPr>
            <a:xfrm>
              <a:off x="1809750" y="215265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114300"/>
                  </a:moveTo>
                  <a:lnTo>
                    <a:pt x="266700" y="0"/>
                  </a:lnTo>
                  <a:lnTo>
                    <a:pt x="266700" y="228600"/>
                  </a:lnTo>
                  <a:close/>
                </a:path>
              </a:pathLst>
            </a:custGeom>
            <a:solidFill>
              <a:srgbClr val="F26B4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59268" y="2504599"/>
              <a:ext cx="5513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7000A"/>
                  </a:solidFill>
                  <a:latin typeface="Arial"/>
                  <a:ea typeface="Microsoft YaHei"/>
                  <a:cs typeface="Arial"/>
                </a:rPr>
                <a:t>约 -14.8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2247900" y="2019300"/>
              <a:ext cx="838200" cy="790575"/>
              <a:chOff x="2247900" y="2019300"/>
              <a:chExt cx="838200" cy="7905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247900" y="2019300"/>
                <a:ext cx="8382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9525">
                <a:solidFill>
                  <a:srgbClr val="D9D9D9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425065" y="2067878"/>
                <a:ext cx="457519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73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350770" y="2626995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规则修正后</a:t>
                </a:r>
              </a:p>
            </p:txBody>
          </p:sp>
        </p:grpSp>
        <p:sp>
          <p:nvSpPr>
            <p:cNvPr id="27" name="Polygon 27"/>
            <p:cNvSpPr/>
            <p:nvPr/>
          </p:nvSpPr>
          <p:spPr>
            <a:xfrm>
              <a:off x="3276600" y="215265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114300"/>
                  </a:moveTo>
                  <a:lnTo>
                    <a:pt x="266700" y="0"/>
                  </a:lnTo>
                  <a:lnTo>
                    <a:pt x="266700" y="228600"/>
                  </a:lnTo>
                  <a:close/>
                </a:path>
              </a:pathLst>
            </a:custGeom>
            <a:solidFill>
              <a:srgbClr val="C7000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26118" y="2504599"/>
              <a:ext cx="421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7000A"/>
                  </a:solidFill>
                  <a:latin typeface="Arial"/>
                  <a:ea typeface="Microsoft YaHei"/>
                  <a:cs typeface="Arial"/>
                </a:rPr>
                <a:t>G1 cap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3684270" y="2019300"/>
              <a:ext cx="494302" cy="790575"/>
              <a:chOff x="3684270" y="2019300"/>
              <a:chExt cx="494302" cy="790575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3714750" y="2019300"/>
                <a:ext cx="457200" cy="533400"/>
              </a:xfrm>
              <a:prstGeom prst="roundRect">
                <a:avLst>
                  <a:gd name="adj" fmla="val 12500"/>
                </a:avLst>
              </a:prstGeom>
              <a:solidFill>
                <a:srgbClr val="C7000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3761422" y="2092166"/>
                <a:ext cx="417150" cy="472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3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69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684270" y="2626995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最终分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33400" y="3048000"/>
            <a:ext cx="5351074" cy="3086100"/>
            <a:chOff x="533400" y="3048000"/>
            <a:chExt cx="5351074" cy="3086100"/>
          </a:xfrm>
        </p:grpSpPr>
        <p:sp>
          <p:nvSpPr>
            <p:cNvPr id="34" name="Rectangle 34"/>
            <p:cNvSpPr/>
            <p:nvPr/>
          </p:nvSpPr>
          <p:spPr>
            <a:xfrm>
              <a:off x="533400" y="3048000"/>
              <a:ext cx="3810000" cy="3086100"/>
            </a:xfrm>
            <a:prstGeom prst="roundRect">
              <a:avLst>
                <a:gd name="adj" fmla="val 1852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3900" y="3190875"/>
              <a:ext cx="17918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Rubric 基础扣分点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0568" y="3514249"/>
              <a:ext cx="25405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满分 100，基础分 88；以下为主要未满分项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30568" y="3847624"/>
              <a:ext cx="5153906" cy="2065020"/>
              <a:chOff x="730568" y="3847624"/>
              <a:chExt cx="5153906" cy="2065020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730568" y="3847624"/>
                <a:ext cx="48353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命名与风格 5/7：</a:t>
                </a:r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TelevisionPage 空 catch 注释移除；WindowModel 文档注释移除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30568" y="4114324"/>
                <a:ext cx="51539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类型安全 6/8：</a:t>
                </a:r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contentMaxWidth 使用 BreakpointType(0, 840, 840) 依赖 falsy 逻辑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30568" y="4381024"/>
                <a:ext cx="479636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静态坏味道 4/6：</a:t>
                </a:r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VideoProgramDetails 宽窄屏分支约 120 行 VideoCard 配置重复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30568" y="4647724"/>
                <a:ext cx="50498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能力抽取 4/5：</a:t>
                </a:r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VideoCard 配置未抽为 Builder；isWideScreen 未集中到 WindowModel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0568" y="4914424"/>
                <a:ext cx="33661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复杂度 4/5：</a:t>
                </a:r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ContentBuilder 超过 220 行，嵌套层级较深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30568" y="5181124"/>
                <a:ext cx="31061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可演进性 4/5：</a:t>
                </a:r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isWideScreen 判断散布在 6 个组件中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30568" y="5447824"/>
                <a:ext cx="46988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稳定性 3/4：</a:t>
                </a:r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EntryAbility 注册 windowSizeChange 监听后未在 onDestroy 注销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30568" y="5714524"/>
                <a:ext cx="40422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改动范围 3/5：</a:t>
                </a:r>
                <a:r>
                  <a:rPr lang="zh-CN" sz="975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注释删除、TAG 常量删除、文档注释删除混入适配变更</a:t>
                </a:r>
              </a:p>
            </p:txBody>
          </p:sp>
        </p:grpSp>
      </p:grpSp>
      <p:grpSp>
        <p:nvGrpSpPr>
          <p:cNvPr id="100" name="Group 100"/>
          <p:cNvGrpSpPr/>
          <p:nvPr/>
        </p:nvGrpSpPr>
        <p:grpSpPr>
          <a:xfrm>
            <a:off x="4572000" y="1295400"/>
            <a:ext cx="7086600" cy="4838700"/>
            <a:chOff x="4572000" y="1295400"/>
            <a:chExt cx="7086600" cy="4838700"/>
          </a:xfrm>
        </p:grpSpPr>
        <p:sp>
          <p:nvSpPr>
            <p:cNvPr id="47" name="Rectangle 47"/>
            <p:cNvSpPr/>
            <p:nvPr/>
          </p:nvSpPr>
          <p:spPr>
            <a:xfrm>
              <a:off x="4572000" y="1295400"/>
              <a:ext cx="7086600" cy="4838700"/>
            </a:xfrm>
            <a:prstGeom prst="roundRect">
              <a:avLst>
                <a:gd name="adj" fmla="val 1181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4810260" y="1538288"/>
              <a:ext cx="215765" cy="211136"/>
              <a:chOff x="4810260" y="1538288"/>
              <a:chExt cx="215765" cy="21113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4810260" y="1538288"/>
                <a:ext cx="206064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6064" h="200025">
                    <a:moveTo>
                      <a:pt x="104640" y="200025"/>
                    </a:moveTo>
                    <a:cubicBezTo>
                      <a:pt x="69687" y="190959"/>
                      <a:pt x="39906" y="168106"/>
                      <a:pt x="22103" y="136690"/>
                    </a:cubicBezTo>
                    <a:cubicBezTo>
                      <a:pt x="4301" y="105274"/>
                      <a:pt x="0" y="67981"/>
                      <a:pt x="10184" y="33338"/>
                    </a:cubicBezTo>
                    <a:cubicBezTo>
                      <a:pt x="44805" y="34922"/>
                      <a:pt x="78683" y="22965"/>
                      <a:pt x="104640" y="0"/>
                    </a:cubicBezTo>
                    <a:cubicBezTo>
                      <a:pt x="130597" y="22965"/>
                      <a:pt x="164475" y="34922"/>
                      <a:pt x="199096" y="33338"/>
                    </a:cubicBezTo>
                    <a:cubicBezTo>
                      <a:pt x="205086" y="53696"/>
                      <a:pt x="206064" y="74976"/>
                      <a:pt x="202241" y="95434"/>
                    </a:cubicBez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4948238" y="16716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006023" y="1729422"/>
                <a:ext cx="20002" cy="20002"/>
              </a:xfrm>
              <a:custGeom>
                <a:avLst/>
                <a:gdLst/>
                <a:ahLst/>
                <a:cxnLst/>
                <a:rect l="l" t="t" r="r" b="b"/>
                <a:pathLst>
                  <a:path w="20002" h="20002">
                    <a:moveTo>
                      <a:pt x="0" y="0"/>
                    </a:moveTo>
                    <a:lnTo>
                      <a:pt x="20002" y="20002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5124450" y="15430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规则修正明细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769168" y="1875949"/>
              <a:ext cx="3795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规则修正按风险等级映射到评分项；同一规则可影响多个评分项。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781550" y="2171700"/>
              <a:ext cx="6667500" cy="285750"/>
            </a:xfrm>
            <a:prstGeom prst="rect">
              <a:avLst/>
            </a:prstGeom>
            <a:solidFill>
              <a:srgbClr val="C7000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883468" y="22569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规则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59868" y="22569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客观问题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855518" y="22569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分数修正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4781550" y="2457450"/>
              <a:ext cx="6667500" cy="438150"/>
              <a:chOff x="4781550" y="2457450"/>
              <a:chExt cx="6667500" cy="43815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4781550" y="2457450"/>
                <a:ext cx="6667500" cy="428625"/>
              </a:xfrm>
              <a:prstGeom prst="rect">
                <a:avLst/>
              </a:prstGeom>
              <a:solidFill>
                <a:srgbClr val="F7F7F5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4884420" y="2560320"/>
                <a:ext cx="14750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Consolas"/>
                    <a:ea typeface="Microsoft YaHei"/>
                    <a:cs typeface="Consolas"/>
                  </a:rPr>
                  <a:t>OM-BREAKPOINT-MUST-02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560820" y="255079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布局断点判断使用硬编码宽度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560820" y="2712720"/>
                <a:ext cx="263318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影响 ArkTS/ArkUI 语法与 ArkTS 约束两个评分项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855518" y="2618899"/>
                <a:ext cx="8575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-2.1 / -1.75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4781550" y="2886075"/>
              <a:ext cx="6667500" cy="438150"/>
              <a:chOff x="4781550" y="2886075"/>
              <a:chExt cx="6667500" cy="43815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4781550" y="2886075"/>
                <a:ext cx="6667500" cy="4286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4884420" y="2988945"/>
                <a:ext cx="14750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Consolas"/>
                    <a:ea typeface="Microsoft YaHei"/>
                    <a:cs typeface="Consolas"/>
                  </a:rPr>
                  <a:t>OM-BREAKPOINT-MUST-04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6560820" y="2979420"/>
                <a:ext cx="1823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页面组件断点来源不符合规则要求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6560820" y="3141345"/>
                <a:ext cx="16310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触发 G1；同样影响两个评分项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855518" y="3047524"/>
                <a:ext cx="8575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-2.1 / -1.75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4781550" y="3314700"/>
              <a:ext cx="6667500" cy="438150"/>
              <a:chOff x="4781550" y="3314700"/>
              <a:chExt cx="6667500" cy="43815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4781550" y="3314700"/>
                <a:ext cx="6667500" cy="428625"/>
              </a:xfrm>
              <a:prstGeom prst="rect">
                <a:avLst/>
              </a:prstGeom>
              <a:solidFill>
                <a:srgbClr val="F7F7F5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4884420" y="3417570"/>
                <a:ext cx="14750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Consolas"/>
                    <a:ea typeface="Microsoft YaHei"/>
                    <a:cs typeface="Consolas"/>
                  </a:rPr>
                  <a:t>OM-BREAKPOINT-MUST-03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6560820" y="3408045"/>
                <a:ext cx="239315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BreakpointType 只覆盖 sm/md/lg，缺少 xl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6560820" y="3569970"/>
                <a:ext cx="175107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触发 G1；断点值分发能力不完整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9855518" y="3476149"/>
                <a:ext cx="8575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-2.1 / -1.75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4781550" y="3743325"/>
              <a:ext cx="6667500" cy="447675"/>
              <a:chOff x="4781550" y="3743325"/>
              <a:chExt cx="6667500" cy="447675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4781550" y="3743325"/>
                <a:ext cx="6667500" cy="4286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4884420" y="38461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Consolas"/>
                    <a:ea typeface="Microsoft YaHei"/>
                    <a:cs typeface="Consolas"/>
                  </a:rPr>
                  <a:t>ARKTS-SHOULD-010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560820" y="3846195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代码重复坏味道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6560820" y="4008120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映射到静态坏味道控制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9855518" y="3904774"/>
                <a:ext cx="3251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-0.6</a:t>
                </a: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4781550" y="4171950"/>
              <a:ext cx="6667500" cy="438150"/>
              <a:chOff x="4781550" y="4171950"/>
              <a:chExt cx="6667500" cy="438150"/>
            </a:xfrm>
          </p:grpSpPr>
          <p:sp>
            <p:nvSpPr>
              <p:cNvPr id="82" name="Rectangle 82"/>
              <p:cNvSpPr/>
              <p:nvPr/>
            </p:nvSpPr>
            <p:spPr>
              <a:xfrm>
                <a:off x="4781550" y="4171950"/>
                <a:ext cx="6667500" cy="428625"/>
              </a:xfrm>
              <a:prstGeom prst="rect">
                <a:avLst/>
              </a:prstGeom>
              <a:solidFill>
                <a:srgbClr val="F7F7F5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4884420" y="4274820"/>
                <a:ext cx="143303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Consolas"/>
                    <a:ea typeface="Microsoft YaHei"/>
                    <a:cs typeface="Consolas"/>
                  </a:rPr>
                  <a:t>ARKTS-PERF-SHOULD-001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6560820" y="426529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重复逻辑带来性能与维护风险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6560820" y="4427220"/>
                <a:ext cx="17030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影响静态坏味道控制与性能风险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9855518" y="4333399"/>
                <a:ext cx="8575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-0.6 / -0.45</a:t>
                </a: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4781550" y="4600575"/>
              <a:ext cx="6667500" cy="438150"/>
              <a:chOff x="4781550" y="4600575"/>
              <a:chExt cx="6667500" cy="438150"/>
            </a:xfrm>
          </p:grpSpPr>
          <p:sp>
            <p:nvSpPr>
              <p:cNvPr id="88" name="Rectangle 88"/>
              <p:cNvSpPr/>
              <p:nvPr/>
            </p:nvSpPr>
            <p:spPr>
              <a:xfrm>
                <a:off x="4781550" y="4600575"/>
                <a:ext cx="6667500" cy="4286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4884420" y="4703445"/>
                <a:ext cx="161906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Consolas"/>
                    <a:ea typeface="Microsoft YaHei"/>
                    <a:cs typeface="Consolas"/>
                  </a:rPr>
                  <a:t>OM-WATERFLOW-SHOULD-01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6560820" y="4693920"/>
                <a:ext cx="245316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WaterFlow 动态切列未设置 SLIDING_WINDOW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6560820" y="48558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映射到静态坏味道控制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9855518" y="4762024"/>
                <a:ext cx="3251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-0.6</a:t>
                </a: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4781550" y="5029200"/>
              <a:ext cx="6667500" cy="552450"/>
              <a:chOff x="4781550" y="5029200"/>
              <a:chExt cx="6667500" cy="552450"/>
            </a:xfrm>
          </p:grpSpPr>
          <p:sp>
            <p:nvSpPr>
              <p:cNvPr id="94" name="Rectangle 94"/>
              <p:cNvSpPr/>
              <p:nvPr/>
            </p:nvSpPr>
            <p:spPr>
              <a:xfrm>
                <a:off x="4781550" y="5029200"/>
                <a:ext cx="6667500" cy="552450"/>
              </a:xfrm>
              <a:prstGeom prst="rect">
                <a:avLst/>
              </a:prstGeom>
              <a:solidFill>
                <a:srgbClr val="F7F7F5"/>
              </a:solidFill>
              <a:ln>
                <a:noFill/>
              </a:ln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4884420" y="5132070"/>
                <a:ext cx="16790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Consolas"/>
                    <a:ea typeface="Microsoft YaHei"/>
                    <a:cs typeface="Consolas"/>
                  </a:rPr>
                  <a:t>OFFICIAL-LINTER:color-value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6560820" y="5122545"/>
                <a:ext cx="34792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B"/>
                    </a:solidFill>
                    <a:latin typeface="Arial"/>
                    <a:ea typeface="Microsoft YaHei"/>
                    <a:cs typeface="Arial"/>
                  </a:rPr>
                  <a:t>VideoProgramDetails 第 269、381 行颜色值未通过 $r 资源引用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6560820" y="5284470"/>
                <a:ext cx="24291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影响 ArkUI 组织方式与 HarmonyOS 工程实践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9855518" y="5200174"/>
                <a:ext cx="7824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7000A"/>
                    </a:solidFill>
                    <a:latin typeface="Arial"/>
                    <a:ea typeface="Microsoft YaHei"/>
                    <a:cs typeface="Arial"/>
                  </a:rPr>
                  <a:t>-0.5 / -0.5</a:t>
                </a:r>
              </a:p>
            </p:txBody>
          </p:sp>
        </p:grpSp>
      </p:grpSp>
      <p:grpSp>
        <p:nvGrpSpPr>
          <p:cNvPr id="108" name="Group 108"/>
          <p:cNvGrpSpPr/>
          <p:nvPr/>
        </p:nvGrpSpPr>
        <p:grpSpPr>
          <a:xfrm>
            <a:off x="4572000" y="5753100"/>
            <a:ext cx="8189976" cy="381000"/>
            <a:chOff x="4572000" y="5753100"/>
            <a:chExt cx="8189976" cy="381000"/>
          </a:xfrm>
        </p:grpSpPr>
        <p:sp>
          <p:nvSpPr>
            <p:cNvPr id="101" name="Rectangle 101"/>
            <p:cNvSpPr/>
            <p:nvPr/>
          </p:nvSpPr>
          <p:spPr>
            <a:xfrm>
              <a:off x="4572000" y="5753100"/>
              <a:ext cx="7086600" cy="381000"/>
            </a:xfrm>
            <a:prstGeom prst="roundRect">
              <a:avLst>
                <a:gd name="adj" fmla="val 15000"/>
              </a:avLst>
            </a:prstGeom>
            <a:solidFill>
              <a:srgbClr val="C7000A">
                <a:alpha val="8000"/>
              </a:srgbClr>
            </a:solidFill>
            <a:ln w="9525">
              <a:solidFill>
                <a:srgbClr val="C7000A"/>
              </a:solidFill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4806158" y="5857875"/>
              <a:ext cx="176769" cy="190500"/>
              <a:chOff x="4806158" y="5857875"/>
              <a:chExt cx="176769" cy="19050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4806158" y="5857875"/>
                <a:ext cx="176769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6769" h="171450">
                    <a:moveTo>
                      <a:pt x="118648" y="159496"/>
                    </a:moveTo>
                    <a:cubicBezTo>
                      <a:pt x="109675" y="164744"/>
                      <a:pt x="99941" y="168793"/>
                      <a:pt x="89692" y="171450"/>
                    </a:cubicBezTo>
                    <a:cubicBezTo>
                      <a:pt x="59732" y="163679"/>
                      <a:pt x="34205" y="144091"/>
                      <a:pt x="18946" y="117163"/>
                    </a:cubicBezTo>
                    <a:cubicBezTo>
                      <a:pt x="3686" y="90235"/>
                      <a:pt x="0" y="58269"/>
                      <a:pt x="8729" y="28575"/>
                    </a:cubicBezTo>
                    <a:cubicBezTo>
                      <a:pt x="38405" y="29933"/>
                      <a:pt x="67443" y="19684"/>
                      <a:pt x="89692" y="0"/>
                    </a:cubicBezTo>
                    <a:cubicBezTo>
                      <a:pt x="111940" y="19684"/>
                      <a:pt x="140979" y="29933"/>
                      <a:pt x="170654" y="28575"/>
                    </a:cubicBezTo>
                    <a:cubicBezTo>
                      <a:pt x="176130" y="47205"/>
                      <a:pt x="176769" y="66923"/>
                      <a:pt x="172512" y="85868"/>
                    </a:cubicBez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4962525" y="5981700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4962525" y="6038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C7000A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5092065" y="5887402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G1 高密度静态错误：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406515" y="5887402"/>
              <a:ext cx="63554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1D1B"/>
                  </a:solidFill>
                  <a:latin typeface="Arial"/>
                  <a:ea typeface="Microsoft YaHei"/>
                  <a:cs typeface="Arial"/>
                </a:rPr>
                <a:t>must_rule 不满足阈值 2，实际 3；触发规则为 OM-BREAKPOINT-MUST-02 / 04 / 03；分数上限 69。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521970" y="6475095"/>
            <a:ext cx="11245310" cy="182880"/>
            <a:chOff x="521970" y="6475095"/>
            <a:chExt cx="11245310" cy="182880"/>
          </a:xfrm>
        </p:grpSpPr>
        <p:sp>
          <p:nvSpPr>
            <p:cNvPr id="109" name="TextBox 109"/>
            <p:cNvSpPr txBox="1"/>
            <p:nvPr/>
          </p:nvSpPr>
          <p:spPr>
            <a:xfrm>
              <a:off x="521970" y="6475095"/>
              <a:ext cx="54895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19191"/>
                  </a:solidFill>
                  <a:latin typeface="Consolas"/>
                  <a:ea typeface="Microsoft YaHei"/>
                  <a:cs typeface="Consolas"/>
                </a:rPr>
                <a:t>Source: outputs/result.json dimension_results, risks, hard_gates, official_linter_summary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34237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19191"/>
                  </a:solidFill>
                  <a:latin typeface="Arial"/>
                  <a:ea typeface="Microsoft YaHei"/>
                  <a:cs typeface="Arial"/>
                </a:rPr>
                <a:t>02 / 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6" grpId="0"/>
      <p:bldP spid="10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2026-07-06T03:29:19Z</dcterms:created>
  <dcterms:modified xsi:type="dcterms:W3CDTF">2026-07-06T03:29:19Z</dcterms:modified>
  <cp:category/>
  <cp:contentStatus/>
</cp:coreProperties>
</file>